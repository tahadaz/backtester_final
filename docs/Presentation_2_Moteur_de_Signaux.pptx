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28800" y="2011680"/>
            <a:ext cx="8503920" cy="36576"/>
          </a:xfrm>
          <a:prstGeom prst="roundRect">
            <a:avLst/>
          </a:prstGeom>
          <a:solidFill>
            <a:srgbClr val="27A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8503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Le Moteur de Signaux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29184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7AE7A"/>
                </a:solidFill>
                <a:latin typeface="Calibri"/>
              </a:defRPr>
            </a:pPr>
            <a:r>
              <a:t>De 120 variantes testées à un signal unique — sans overfitting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4389120"/>
            <a:ext cx="8503920" cy="36576"/>
          </a:xfrm>
          <a:prstGeom prst="roundRect">
            <a:avLst/>
          </a:prstGeom>
          <a:solidFill>
            <a:srgbClr val="14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466344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  <a:latin typeface="Calibri"/>
              </a:defRPr>
            </a:pPr>
            <a:r>
              <a:t>Pipeline de filtrage OOS en 7 couches (A → G)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14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82880"/>
            <a:ext cx="109728" cy="594360"/>
          </a:xfrm>
          <a:prstGeom prst="roundRect">
            <a:avLst/>
          </a:prstGeom>
          <a:solidFill>
            <a:srgbClr val="E0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Pourquoi Ne Pas Prendre « Le Meilleur » Indicateur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05D5D"/>
                </a:solidFill>
                <a:latin typeface="Calibri"/>
              </a:defRPr>
            </a:pPr>
            <a:r>
              <a:t>Le piège du cherry-picking</a:t>
            </a:r>
          </a:p>
          <a:p>
            <a:pPr algn="l">
              <a:spcBef>
                <a:spcPts val="4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600" b="0">
                <a:solidFill>
                  <a:srgbClr val="D0D8E4"/>
                </a:solidFill>
                <a:latin typeface="Calibri"/>
              </a:defRPr>
            </a:pPr>
            <a:r>
              <a:t>Si on teste 100 variantes d'indicateurs et qu'on choisit la meilleure,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D0D8E4"/>
                </a:solidFill>
                <a:latin typeface="Calibri"/>
              </a:defRPr>
            </a:pPr>
            <a:r>
              <a:t>on a de très fortes chances de sélectionner du bruit, pas du signal.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600" b="0">
                <a:solidFill>
                  <a:srgbClr val="D0D8E4"/>
                </a:solidFill>
                <a:latin typeface="Calibri"/>
              </a:defRPr>
            </a:pPr>
            <a:r>
              <a:t>Bailey &amp; de Prado (2014) montrent que le Sharpe Ratio apparent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D0D8E4"/>
                </a:solidFill>
                <a:latin typeface="Calibri"/>
              </a:defRPr>
            </a:pPr>
            <a:r>
              <a:t>est gonflé proportionnellement à  √(2 × ln(N))  quand on teste N stratégies.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600" b="0">
                <a:solidFill>
                  <a:srgbClr val="D0D8E4"/>
                </a:solidFill>
                <a:latin typeface="Calibri"/>
              </a:defRPr>
            </a:pPr>
            <a:r>
              <a:t>Exemple : un SMA-47 peut surperformer un SMA-50 purement par hasard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D0D8E4"/>
                </a:solidFill>
                <a:latin typeface="Calibri"/>
              </a:defRPr>
            </a:pPr>
            <a:r>
              <a:t>sur une période donnée. Le choisir serait de l'overfitting.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800" b="1">
                <a:solidFill>
                  <a:srgbClr val="27AE7A"/>
                </a:solidFill>
                <a:latin typeface="Calibri"/>
              </a:defRPr>
            </a:pPr>
            <a:r>
              <a:t>La solution : ne pas choisir « le meilleur ».</a:t>
            </a:r>
          </a:p>
          <a:p>
            <a:pPr algn="l">
              <a:spcBef>
                <a:spcPts val="400"/>
              </a:spcBef>
              <a:defRPr sz="1800" b="1">
                <a:solidFill>
                  <a:srgbClr val="27AE7A"/>
                </a:solidFill>
                <a:latin typeface="Calibri"/>
              </a:defRPr>
            </a:pPr>
            <a:r>
              <a:t>Éliminer les mauvais, puis combiner les survivants.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B93"/>
                </a:solidFill>
                <a:latin typeface="Calibri"/>
              </a:defRPr>
            </a:pPr>
            <a:r>
              <a:t>Ref: Bailey &amp; de Prado (2014), The Deflated Sharpe Ratio, J. Portfolio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B93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14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82880"/>
            <a:ext cx="109728" cy="594360"/>
          </a:xfrm>
          <a:prstGeom prst="roundRect">
            <a:avLst/>
          </a:prstGeom>
          <a:solidFill>
            <a:srgbClr val="27A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Pipeline en 7 Couches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1371600"/>
            <a:ext cx="1554480" cy="457200"/>
          </a:xfrm>
          <a:prstGeom prst="roundRect">
            <a:avLst/>
          </a:prstGeom>
          <a:solidFill>
            <a:srgbClr val="389F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Couche 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1920240"/>
            <a:ext cx="1554480" cy="1097280"/>
          </a:xfrm>
          <a:prstGeom prst="roundRect">
            <a:avLst/>
          </a:prstGeom>
          <a:solidFill>
            <a:srgbClr val="14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Univers des</a:t>
            </a:r>
            <a:br/>
            <a:r>
              <a:t>Candidats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10896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AEC0"/>
                </a:solidFill>
                <a:latin typeface="Calibri"/>
              </a:defRPr>
            </a:pPr>
            <a:r>
              <a:t>30 variantes</a:t>
            </a:r>
            <a:br/>
            <a:r>
              <a:t>par famille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810512" y="2286000"/>
            <a:ext cx="137160" cy="182880"/>
          </a:xfrm>
          <a:prstGeom prst="rightArrow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920240" y="1371600"/>
            <a:ext cx="1554480" cy="457200"/>
          </a:xfrm>
          <a:prstGeom prst="roundRect">
            <a:avLst/>
          </a:prstGeom>
          <a:solidFill>
            <a:srgbClr val="389F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Couche 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20240" y="1920240"/>
            <a:ext cx="1554480" cy="1097280"/>
          </a:xfrm>
          <a:prstGeom prst="roundRect">
            <a:avLst/>
          </a:prstGeom>
          <a:solidFill>
            <a:srgbClr val="14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Évaluation</a:t>
            </a:r>
            <a:br/>
            <a:r>
              <a:t>Walk-Forward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10896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AEC0"/>
                </a:solidFill>
                <a:latin typeface="Calibri"/>
              </a:defRPr>
            </a:pPr>
            <a:r>
              <a:t>Sharpe, PnL, DD</a:t>
            </a:r>
            <a:br/>
            <a:r>
              <a:t>par fenêtre OOS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502152" y="2286000"/>
            <a:ext cx="137160" cy="182880"/>
          </a:xfrm>
          <a:prstGeom prst="rightArrow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11880" y="1371600"/>
            <a:ext cx="1554480" cy="457200"/>
          </a:xfrm>
          <a:prstGeom prst="roundRect">
            <a:avLst/>
          </a:prstGeom>
          <a:solidFill>
            <a:srgbClr val="27A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Couche 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11880" y="1920240"/>
            <a:ext cx="1554480" cy="1097280"/>
          </a:xfrm>
          <a:prstGeom prst="roundRect">
            <a:avLst/>
          </a:prstGeom>
          <a:solidFill>
            <a:srgbClr val="14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Score de</a:t>
            </a:r>
            <a:br/>
            <a:r>
              <a:t>Robustesse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10896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AEC0"/>
                </a:solidFill>
                <a:latin typeface="Calibri"/>
              </a:defRPr>
            </a:pPr>
            <a:r>
              <a:t>4 critères →</a:t>
            </a:r>
            <a:br/>
            <a:r>
              <a:t>score [0, 1]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193792" y="2286000"/>
            <a:ext cx="137160" cy="182880"/>
          </a:xfrm>
          <a:prstGeom prst="rightArrow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303520" y="1371600"/>
            <a:ext cx="1554480" cy="457200"/>
          </a:xfrm>
          <a:prstGeom prst="roundRect">
            <a:avLst/>
          </a:prstGeom>
          <a:solidFill>
            <a:srgbClr val="E6A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Couche 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03520" y="1920240"/>
            <a:ext cx="1554480" cy="1097280"/>
          </a:xfrm>
          <a:prstGeom prst="roundRect">
            <a:avLst/>
          </a:prstGeom>
          <a:solidFill>
            <a:srgbClr val="14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Filtrage</a:t>
            </a:r>
            <a:br/>
            <a:r>
              <a:t>Survivants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310896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AEC0"/>
                </a:solidFill>
                <a:latin typeface="Calibri"/>
              </a:defRPr>
            </a:pPr>
            <a:r>
              <a:t>Viable →</a:t>
            </a:r>
            <a:br/>
            <a:r>
              <a:t>Compétitif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885432" y="2286000"/>
            <a:ext cx="137160" cy="182880"/>
          </a:xfrm>
          <a:prstGeom prst="rightArrow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995160" y="1371600"/>
            <a:ext cx="1554480" cy="457200"/>
          </a:xfrm>
          <a:prstGeom prst="roundRect">
            <a:avLst/>
          </a:prstGeom>
          <a:solidFill>
            <a:srgbClr val="E6A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Couche 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95160" y="1920240"/>
            <a:ext cx="1554480" cy="1097280"/>
          </a:xfrm>
          <a:prstGeom prst="roundRect">
            <a:avLst/>
          </a:prstGeom>
          <a:solidFill>
            <a:srgbClr val="14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Réduction</a:t>
            </a:r>
            <a:br/>
            <a:r>
              <a:t>Redondance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310896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AEC0"/>
                </a:solidFill>
                <a:latin typeface="Calibri"/>
              </a:defRPr>
            </a:pPr>
            <a:r>
              <a:t>Corrélation</a:t>
            </a:r>
            <a:br/>
            <a:r>
              <a:t>Pearson &lt; 0.85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577072" y="2286000"/>
            <a:ext cx="137160" cy="182880"/>
          </a:xfrm>
          <a:prstGeom prst="rightArrow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686800" y="1371600"/>
            <a:ext cx="1554480" cy="457200"/>
          </a:xfrm>
          <a:prstGeom prst="roundRect">
            <a:avLst/>
          </a:prstGeom>
          <a:solidFill>
            <a:srgbClr val="8B7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Couche F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0" y="1920240"/>
            <a:ext cx="1554480" cy="1097280"/>
          </a:xfrm>
          <a:prstGeom prst="roundRect">
            <a:avLst/>
          </a:prstGeom>
          <a:solidFill>
            <a:srgbClr val="14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Signal</a:t>
            </a:r>
            <a:br/>
            <a:r>
              <a:t>Courant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32520" y="310896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AEC0"/>
                </a:solidFill>
                <a:latin typeface="Calibri"/>
              </a:defRPr>
            </a:pPr>
            <a:r>
              <a:t>BUY / SELL /</a:t>
            </a:r>
            <a:br/>
            <a:r>
              <a:t>HOLD par variante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10268712" y="2286000"/>
            <a:ext cx="137160" cy="182880"/>
          </a:xfrm>
          <a:prstGeom prst="rightArrow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378440" y="1371600"/>
            <a:ext cx="1554480" cy="457200"/>
          </a:xfrm>
          <a:prstGeom prst="roundRect">
            <a:avLst/>
          </a:prstGeom>
          <a:solidFill>
            <a:srgbClr val="E0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Couche 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378440" y="1920240"/>
            <a:ext cx="1554480" cy="1097280"/>
          </a:xfrm>
          <a:prstGeom prst="roundRect">
            <a:avLst/>
          </a:prstGeom>
          <a:solidFill>
            <a:srgbClr val="14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Ensemble</a:t>
            </a:r>
            <a:br/>
            <a:r>
              <a:t>Pondéré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60" y="310896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AEC0"/>
                </a:solidFill>
                <a:latin typeface="Calibri"/>
              </a:defRPr>
            </a:pPr>
            <a:r>
              <a:t>Score final</a:t>
            </a:r>
            <a:br/>
            <a:r>
              <a:t>[-100, +100]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4114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0D8E4"/>
                </a:solidFill>
                <a:latin typeface="Calibri"/>
              </a:defRPr>
            </a:pPr>
            <a:r>
              <a:t>4 familles d'indicateurs, chacune avec 30 variantes = 120 candidats évalués</a:t>
            </a:r>
          </a:p>
          <a:p>
            <a:pPr algn="l">
              <a:spcBef>
                <a:spcPts val="4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400" b="0">
                <a:solidFill>
                  <a:srgbClr val="389FDD"/>
                </a:solidFill>
                <a:latin typeface="Calibri"/>
              </a:defRPr>
            </a:pPr>
            <a:r>
              <a:t>SMA — Tendance (prix vs moyenne mobile)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27AE7A"/>
                </a:solidFill>
                <a:latin typeface="Calibri"/>
              </a:defRPr>
            </a:pPr>
            <a:r>
              <a:t>RSI — Mean-reversion (surachat / survente)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E6A81E"/>
                </a:solidFill>
                <a:latin typeface="Calibri"/>
              </a:defRPr>
            </a:pPr>
            <a:r>
              <a:t>MACD — Momentum (croisement de lignes)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8B72CF"/>
                </a:solidFill>
                <a:latin typeface="Calibri"/>
              </a:defRPr>
            </a:pPr>
            <a:r>
              <a:t>OBV — Volume (confirmation par les volumes)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B93"/>
                </a:solidFill>
                <a:latin typeface="Calibri"/>
              </a:defRPr>
            </a:pPr>
          </a:p>
        </p:txBody>
      </p:sp>
      <p:sp>
        <p:nvSpPr>
          <p:cNvPr id="34" name="TextBox 33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B93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14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82880"/>
            <a:ext cx="109728" cy="594360"/>
          </a:xfrm>
          <a:prstGeom prst="roundRect">
            <a:avLst/>
          </a:prstGeom>
          <a:solidFill>
            <a:srgbClr val="389F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Couche A — Univers des Candidats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EC0"/>
                </a:solidFill>
                <a:latin typeface="Calibri"/>
              </a:defRPr>
            </a:pPr>
            <a:r>
              <a:t>Explorer systématiquement l'espace des paramètres — pas de choix subjectif.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2286000" cy="457200"/>
          </a:xfrm>
          <a:prstGeom prst="roundRect">
            <a:avLst/>
          </a:prstGeom>
          <a:solidFill>
            <a:srgbClr val="389F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Famille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0" y="1737360"/>
            <a:ext cx="2743200" cy="457200"/>
          </a:xfrm>
          <a:prstGeom prst="roundRect">
            <a:avLst/>
          </a:prstGeom>
          <a:solidFill>
            <a:srgbClr val="389F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Logique du Signal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1737360"/>
            <a:ext cx="3200400" cy="457200"/>
          </a:xfrm>
          <a:prstGeom prst="roundRect">
            <a:avLst/>
          </a:prstGeom>
          <a:solidFill>
            <a:srgbClr val="389F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Paramètres explorés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737360"/>
            <a:ext cx="2468880" cy="457200"/>
          </a:xfrm>
          <a:prstGeom prst="roundRect">
            <a:avLst/>
          </a:prstGeom>
          <a:solidFill>
            <a:srgbClr val="389F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Variantes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286000"/>
            <a:ext cx="2286000" cy="502920"/>
          </a:xfrm>
          <a:prstGeom prst="roundRect">
            <a:avLst/>
          </a:prstGeom>
          <a:solidFill>
            <a:srgbClr val="14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D0D8E4"/>
                </a:solidFill>
              </a:defRPr>
            </a:pPr>
            <a:r>
              <a:t>SMA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3774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0D8E4"/>
                </a:solidFill>
                <a:latin typeface="Calibri"/>
              </a:defRPr>
            </a:pPr>
            <a:r>
              <a:t>Achat si prix &gt; moyenne mobile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23774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0D8E4"/>
                </a:solidFill>
                <a:latin typeface="Calibri"/>
              </a:defRPr>
            </a:pPr>
            <a:r>
              <a:t>Fenêtres : 3 à 400 jours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2286000"/>
            <a:ext cx="2468880" cy="502920"/>
          </a:xfrm>
          <a:prstGeom prst="roundRect">
            <a:avLst/>
          </a:prstGeom>
          <a:solidFill>
            <a:srgbClr val="14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7AE7A"/>
                </a:solidFill>
              </a:defRPr>
            </a:pPr>
            <a:r>
              <a:t>30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80360"/>
            <a:ext cx="2286000" cy="502920"/>
          </a:xfrm>
          <a:prstGeom prst="roundRect">
            <a:avLst/>
          </a:prstGeom>
          <a:solidFill>
            <a:srgbClr val="14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D0D8E4"/>
                </a:solidFill>
              </a:defRPr>
            </a:pPr>
            <a:r>
              <a:t>RSI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29718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0D8E4"/>
                </a:solidFill>
                <a:latin typeface="Calibri"/>
              </a:defRPr>
            </a:pPr>
            <a:r>
              <a:t>Achat si RSI &lt; seuil de survente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2971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0D8E4"/>
                </a:solidFill>
                <a:latin typeface="Calibri"/>
              </a:defRPr>
            </a:pPr>
            <a:r>
              <a:t>Périodes × seuils (30/70, 25/75...)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2880360"/>
            <a:ext cx="2468880" cy="502920"/>
          </a:xfrm>
          <a:prstGeom prst="roundRect">
            <a:avLst/>
          </a:prstGeom>
          <a:solidFill>
            <a:srgbClr val="14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7AE7A"/>
                </a:solidFill>
              </a:defRPr>
            </a:pPr>
            <a:r>
              <a:t>30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474720"/>
            <a:ext cx="2286000" cy="502920"/>
          </a:xfrm>
          <a:prstGeom prst="roundRect">
            <a:avLst/>
          </a:prstGeom>
          <a:solidFill>
            <a:srgbClr val="14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D0D8E4"/>
                </a:solidFill>
              </a:defRPr>
            </a:pPr>
            <a:r>
              <a:t>MACD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35661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0D8E4"/>
                </a:solidFill>
                <a:latin typeface="Calibri"/>
              </a:defRPr>
            </a:pPr>
            <a:r>
              <a:t>Achat si ligne MACD &gt; signal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35661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0D8E4"/>
                </a:solidFill>
                <a:latin typeface="Calibri"/>
              </a:defRPr>
            </a:pPr>
            <a:r>
              <a:t>Fast × slow × signal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61120" y="3474720"/>
            <a:ext cx="2468880" cy="502920"/>
          </a:xfrm>
          <a:prstGeom prst="roundRect">
            <a:avLst/>
          </a:prstGeom>
          <a:solidFill>
            <a:srgbClr val="14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7AE7A"/>
                </a:solidFill>
              </a:defRPr>
            </a:pPr>
            <a:r>
              <a:t>30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069080"/>
            <a:ext cx="2286000" cy="502920"/>
          </a:xfrm>
          <a:prstGeom prst="roundRect">
            <a:avLst/>
          </a:prstGeom>
          <a:solidFill>
            <a:srgbClr val="14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D0D8E4"/>
                </a:solidFill>
              </a:defRPr>
            </a:pPr>
            <a:r>
              <a:t>OBV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41605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0D8E4"/>
                </a:solidFill>
                <a:latin typeface="Calibri"/>
              </a:defRPr>
            </a:pPr>
            <a:r>
              <a:t>Achat si volume &gt; sa tendance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41605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0D8E4"/>
                </a:solidFill>
                <a:latin typeface="Calibri"/>
              </a:defRPr>
            </a:pPr>
            <a:r>
              <a:t>Périodes EMA : 3 à 400 jours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61120" y="4069080"/>
            <a:ext cx="2468880" cy="502920"/>
          </a:xfrm>
          <a:prstGeom prst="roundRect">
            <a:avLst/>
          </a:prstGeom>
          <a:solidFill>
            <a:srgbClr val="14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7AE7A"/>
                </a:solidFill>
              </a:defRPr>
            </a:pPr>
            <a:r>
              <a:t>30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7548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0D8E4"/>
                </a:solidFill>
                <a:latin typeface="Calibri"/>
              </a:defRPr>
            </a:pPr>
            <a:r>
              <a:t>Les paramètres sont adaptés à l'horizon d'investissement :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A0AEC0"/>
                </a:solidFill>
                <a:latin typeface="Calibri"/>
              </a:defRPr>
            </a:pPr>
            <a:r>
              <a:t>Court terme — fenêtres courtes (3-90 jours), données sur 5 ans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A0AEC0"/>
                </a:solidFill>
                <a:latin typeface="Calibri"/>
              </a:defRPr>
            </a:pPr>
            <a:r>
              <a:t>Moyen terme — fenêtres moyennes (10-250 jours), données sur 10 ans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A0AEC0"/>
                </a:solidFill>
                <a:latin typeface="Calibri"/>
              </a:defRPr>
            </a:pPr>
            <a:r>
              <a:t>Long terme — fenêtres longues (20-400 jours), données sur 20 ans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B93"/>
                </a:solidFill>
                <a:latin typeface="Calibri"/>
              </a:defRPr>
            </a:pPr>
            <a:r>
              <a:t>Chaque variante a un identifiant unique déterministe (SHA-256) pour la reproductibilité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B93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14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82880"/>
            <a:ext cx="109728" cy="594360"/>
          </a:xfrm>
          <a:prstGeom prst="roundRect">
            <a:avLst/>
          </a:prstGeom>
          <a:solidFill>
            <a:srgbClr val="389F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Couche B — Évaluation Walk-Forward OOS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EC0"/>
                </a:solidFill>
                <a:latin typeface="Calibri"/>
              </a:defRPr>
            </a:pPr>
            <a:r>
              <a:t>Le cœur de la rigueur : aucun regard vers le futur.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828800"/>
            <a:ext cx="3200400" cy="411480"/>
          </a:xfrm>
          <a:prstGeom prst="roundRect">
            <a:avLst/>
          </a:prstGeom>
          <a:solidFill>
            <a:srgbClr val="389F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TRAIN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828800"/>
            <a:ext cx="1371600" cy="411480"/>
          </a:xfrm>
          <a:prstGeom prst="roundRect">
            <a:avLst/>
          </a:prstGeom>
          <a:solidFill>
            <a:srgbClr val="14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89FDD"/>
                </a:solidFill>
              </a:defRPr>
            </a:pPr>
            <a:r>
              <a:t>TEST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68880" y="2423160"/>
            <a:ext cx="3200400" cy="411480"/>
          </a:xfrm>
          <a:prstGeom prst="roundRect">
            <a:avLst/>
          </a:prstGeom>
          <a:solidFill>
            <a:srgbClr val="27A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TRAIN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0" y="2423160"/>
            <a:ext cx="1371600" cy="411480"/>
          </a:xfrm>
          <a:prstGeom prst="roundRect">
            <a:avLst/>
          </a:prstGeom>
          <a:solidFill>
            <a:srgbClr val="14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7AE7A"/>
                </a:solidFill>
              </a:defRPr>
            </a:pPr>
            <a:r>
              <a:t>TEST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3017520"/>
            <a:ext cx="3200400" cy="411480"/>
          </a:xfrm>
          <a:prstGeom prst="roundRect">
            <a:avLst/>
          </a:prstGeom>
          <a:solidFill>
            <a:srgbClr val="E6A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TRAIN 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3017520"/>
            <a:ext cx="1371600" cy="411480"/>
          </a:xfrm>
          <a:prstGeom prst="roundRect">
            <a:avLst/>
          </a:prstGeom>
          <a:solidFill>
            <a:srgbClr val="14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6A81E"/>
                </a:solidFill>
              </a:defRPr>
            </a:pPr>
            <a:r>
              <a:t>TEST 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3611880"/>
            <a:ext cx="3200400" cy="411480"/>
          </a:xfrm>
          <a:prstGeom prst="roundRect">
            <a:avLst/>
          </a:prstGeom>
          <a:solidFill>
            <a:srgbClr val="8B7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TRAIN 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3611880"/>
            <a:ext cx="1371600" cy="411480"/>
          </a:xfrm>
          <a:prstGeom prst="roundRect">
            <a:avLst/>
          </a:prstGeom>
          <a:solidFill>
            <a:srgbClr val="14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8B72CF"/>
                </a:solidFill>
              </a:defRPr>
            </a:pPr>
            <a:r>
              <a:t>TEST 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60720" y="4206240"/>
            <a:ext cx="3200400" cy="411480"/>
          </a:xfrm>
          <a:prstGeom prst="roundRect">
            <a:avLst/>
          </a:prstGeom>
          <a:solidFill>
            <a:srgbClr val="E0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TRAIN 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4206240"/>
            <a:ext cx="1371600" cy="411480"/>
          </a:xfrm>
          <a:prstGeom prst="roundRect">
            <a:avLst/>
          </a:prstGeom>
          <a:solidFill>
            <a:srgbClr val="14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05D5D"/>
                </a:solidFill>
              </a:defRPr>
            </a:pPr>
            <a:r>
              <a:t>TEST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18288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7AE7A"/>
                </a:solidFill>
                <a:latin typeface="Calibri"/>
              </a:defRPr>
            </a:pPr>
            <a:r>
              <a:t>Protocole strict 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237744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0D8E4"/>
                </a:solidFill>
                <a:latin typeface="Calibri"/>
              </a:defRPr>
            </a:pPr>
            <a:r>
              <a:t>▸  Signal calculé une seule fois sur</a:t>
            </a:r>
            <a:br/>
            <a:r>
              <a:t>tout l'historique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292608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0D8E4"/>
                </a:solidFill>
                <a:latin typeface="Calibri"/>
              </a:defRPr>
            </a:pPr>
            <a:r>
              <a:t>▸  Évaluation uniquement sur la</a:t>
            </a:r>
            <a:br/>
            <a:r>
              <a:t>période TEST (out-of-sample)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347472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0D8E4"/>
                </a:solidFill>
                <a:latin typeface="Calibri"/>
              </a:defRPr>
            </a:pPr>
            <a:r>
              <a:t>▸  Rendement = bar suivant</a:t>
            </a:r>
            <a:br/>
            <a:r>
              <a:t>(pas de look-ahead)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402336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0D8E4"/>
                </a:solidFill>
                <a:latin typeface="Calibri"/>
              </a:defRPr>
            </a:pPr>
            <a:r>
              <a:t>▸  Coûts de transaction inclus</a:t>
            </a:r>
            <a:br/>
            <a:r>
              <a:t>dans chaque évaluation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457200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0D8E4"/>
                </a:solidFill>
                <a:latin typeface="Calibri"/>
              </a:defRPr>
            </a:pPr>
            <a:r>
              <a:t>▸  Minimum 3 fenêtres valides</a:t>
            </a:r>
            <a:br/>
            <a:r>
              <a:t>(≥ 20 bars chacune)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B93"/>
                </a:solidFill>
                <a:latin typeface="Calibri"/>
              </a:defRPr>
            </a:pPr>
            <a:r>
              <a:t>Ref: Pardo (2008), The Evaluation and Optimization of Trading Strategies, Ch. 7-9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B93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14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82880"/>
            <a:ext cx="109728" cy="594360"/>
          </a:xfrm>
          <a:prstGeom prst="roundRect">
            <a:avLst/>
          </a:prstGeom>
          <a:solidFill>
            <a:srgbClr val="27A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Couche C — Score de Robustesse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EC0"/>
                </a:solidFill>
                <a:latin typeface="Calibri"/>
              </a:defRPr>
            </a:pPr>
            <a:r>
              <a:t>Agréger les résultats de toutes les fenêtres OOS en un score unique de fiabilité [0 → 1].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914400" cy="1005840"/>
          </a:xfrm>
          <a:prstGeom prst="roundRect">
            <a:avLst/>
          </a:prstGeom>
          <a:solidFill>
            <a:srgbClr val="389F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691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9FDD"/>
                </a:solidFill>
                <a:latin typeface="Calibri"/>
              </a:defRPr>
            </a:pPr>
            <a:r>
              <a:t>Sharpe 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011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8E4"/>
                </a:solidFill>
                <a:latin typeface="Calibri"/>
              </a:defRPr>
            </a:pPr>
            <a:r>
              <a:t>Performance ajustée au risque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73736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La performance est le critère</a:t>
            </a:r>
            <a:br/>
            <a:r>
              <a:t>principal (de Prado, Ch. 14)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88920"/>
            <a:ext cx="914400" cy="1005840"/>
          </a:xfrm>
          <a:prstGeom prst="roundRect">
            <a:avLst/>
          </a:prstGeom>
          <a:solidFill>
            <a:srgbClr val="27A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834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7A"/>
                </a:solidFill>
                <a:latin typeface="Calibri"/>
              </a:defRPr>
            </a:pPr>
            <a:r>
              <a:t>Stabilité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154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8E4"/>
                </a:solidFill>
                <a:latin typeface="Calibri"/>
              </a:defRPr>
            </a:pPr>
            <a:r>
              <a:t>% de fenêtres avec Sharpe &gt;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88036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Un signal qui échoue en crise</a:t>
            </a:r>
            <a:br/>
            <a:r>
              <a:t>est dangereux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914400" cy="1005840"/>
          </a:xfrm>
          <a:prstGeom prst="roundRect">
            <a:avLst/>
          </a:prstGeom>
          <a:solidFill>
            <a:srgbClr val="E6A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977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A81E"/>
                </a:solidFill>
                <a:latin typeface="Calibri"/>
              </a:defRPr>
            </a:pPr>
            <a:r>
              <a:t>Consistance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297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8E4"/>
                </a:solidFill>
                <a:latin typeface="Calibri"/>
              </a:defRPr>
            </a:pPr>
            <a:r>
              <a:t>Faible variance entre fenêtres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402336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Sharpe [0.8, 1.0, 1.2] est mieux</a:t>
            </a:r>
            <a:br/>
            <a:r>
              <a:t>que [-1, 1, 3]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074920"/>
            <a:ext cx="914400" cy="1005840"/>
          </a:xfrm>
          <a:prstGeom prst="roundRect">
            <a:avLst/>
          </a:prstGeom>
          <a:solidFill>
            <a:srgbClr val="8B7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5120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72CF"/>
                </a:solidFill>
                <a:latin typeface="Calibri"/>
              </a:defRPr>
            </a:pPr>
            <a:r>
              <a:t>Drawdown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440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8E4"/>
                </a:solidFill>
                <a:latin typeface="Calibri"/>
              </a:defRPr>
            </a:pPr>
            <a:r>
              <a:t>Protection du capital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516636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Un drawdown &gt; 30% est</a:t>
            </a:r>
            <a:br/>
            <a:r>
              <a:t>considéré inacceptable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6217920"/>
            <a:ext cx="10698480" cy="36576"/>
          </a:xfrm>
          <a:prstGeom prst="roundRect">
            <a:avLst/>
          </a:prstGeom>
          <a:solidFill>
            <a:srgbClr val="27A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897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7A"/>
                </a:solidFill>
                <a:latin typeface="Calibri"/>
              </a:defRPr>
            </a:pPr>
            <a:r>
              <a:t>Score final = 0.35 × Sharpe + 0.30 × Stabilité + 0.20 × Consistance + 0.15 × Drawdown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B93"/>
                </a:solidFill>
                <a:latin typeface="Calibri"/>
              </a:defRPr>
            </a:pPr>
            <a:r>
              <a:t>Inspiré du multi-factor scoring de Grinold &amp; Kahn (2000), Active Portfolio Management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B93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14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82880"/>
            <a:ext cx="109728" cy="594360"/>
          </a:xfrm>
          <a:prstGeom prst="roundRect">
            <a:avLst/>
          </a:prstGeom>
          <a:solidFill>
            <a:srgbClr val="E6A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Couche D — De « Testé » à « Compétitif 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0515600" cy="1005840"/>
          </a:xfrm>
          <a:prstGeom prst="roundRect">
            <a:avLst/>
          </a:prstGeom>
          <a:solidFill>
            <a:srgbClr val="14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2286000" cy="1005840"/>
          </a:xfrm>
          <a:prstGeom prst="roundRect">
            <a:avLst/>
          </a:prstGeom>
          <a:solidFill>
            <a:srgbClr val="6B7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TESTÉES</a:t>
            </a:r>
            <a:br/>
            <a:r>
              <a:t>(30)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50876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8E4"/>
                </a:solidFill>
                <a:latin typeface="Calibri"/>
              </a:defRPr>
            </a:pPr>
            <a:r>
              <a:t>Toutes les variantes</a:t>
            </a:r>
            <a:br/>
            <a:r>
              <a:t>générées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2926080"/>
            <a:ext cx="8686800" cy="1005840"/>
          </a:xfrm>
          <a:prstGeom prst="roundRect">
            <a:avLst/>
          </a:prstGeom>
          <a:solidFill>
            <a:srgbClr val="14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71600" y="2926080"/>
            <a:ext cx="2286000" cy="1005840"/>
          </a:xfrm>
          <a:prstGeom prst="roundRect">
            <a:avLst/>
          </a:prstGeom>
          <a:solidFill>
            <a:srgbClr val="389F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VIABLES</a:t>
            </a:r>
            <a:br/>
            <a:r>
              <a:t>(~18)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306324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8E4"/>
                </a:solidFill>
                <a:latin typeface="Calibri"/>
              </a:defRPr>
            </a:pPr>
            <a:r>
              <a:t>≥ 3 fenêtres valides ET</a:t>
            </a:r>
            <a:br/>
            <a:r>
              <a:t>≥ 40% de fenêtres à Sharpe positif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4480560"/>
            <a:ext cx="6858000" cy="1005840"/>
          </a:xfrm>
          <a:prstGeom prst="roundRect">
            <a:avLst/>
          </a:prstGeom>
          <a:solidFill>
            <a:srgbClr val="14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286000" y="4480560"/>
            <a:ext cx="2286000" cy="1005840"/>
          </a:xfrm>
          <a:prstGeom prst="roundRect">
            <a:avLst/>
          </a:prstGeom>
          <a:solidFill>
            <a:srgbClr val="27A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COMPÉTITIFS</a:t>
            </a:r>
            <a:br/>
            <a:r>
              <a:t>(~11)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461772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8E4"/>
                </a:solidFill>
                <a:latin typeface="Calibri"/>
              </a:defRPr>
            </a:pPr>
            <a:r>
              <a:t>Score de fiabilité ≥ 0.25 ET</a:t>
            </a:r>
            <a:br/>
            <a:r>
              <a:t>top 60% par score de fiabilité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7548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A81E"/>
                </a:solidFill>
                <a:latin typeface="Calibri"/>
              </a:defRPr>
            </a:pPr>
            <a:r>
              <a:t>Pourquoi un filtre à deux étages ?</a:t>
            </a:r>
          </a:p>
          <a:p>
            <a:pPr algn="l">
              <a:spcBef>
                <a:spcPts val="4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400" b="0">
                <a:solidFill>
                  <a:srgbClr val="D0D8E4"/>
                </a:solidFill>
                <a:latin typeface="Calibri"/>
              </a:defRPr>
            </a:pPr>
            <a:r>
              <a:t>▸  Le plancher absolu (0.25) empêche de garder des variantes médiocres dans une famille faible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D0D8E4"/>
                </a:solidFill>
                <a:latin typeface="Calibri"/>
              </a:defRPr>
            </a:pPr>
            <a:r>
              <a:t>▸  Le percentile relatif (top 60%) garde de la diversité au lieu de ne choisir que « le meilleur »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D0D8E4"/>
                </a:solidFill>
                <a:latin typeface="Calibri"/>
              </a:defRPr>
            </a:pPr>
            <a:r>
              <a:t>▸  Ensemble, ils évitent à la fois le laxisme et la sur-sélection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B93"/>
                </a:solidFill>
                <a:latin typeface="Calibri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B93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14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82880"/>
            <a:ext cx="109728" cy="594360"/>
          </a:xfrm>
          <a:prstGeom prst="roundRect">
            <a:avLst/>
          </a:prstGeom>
          <a:solidFill>
            <a:srgbClr val="E6A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Couche E — Réduction de Redondance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EC0"/>
                </a:solidFill>
                <a:latin typeface="Calibri"/>
              </a:defRPr>
            </a:pPr>
            <a:r>
              <a:t>Problème : SMA-48, SMA-50 et SMA-52 sont quasi-identiques. Les garder biaiserait l'ensemble.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371600" cy="457200"/>
          </a:xfrm>
          <a:prstGeom prst="roundRect">
            <a:avLst/>
          </a:prstGeom>
          <a:solidFill>
            <a:srgbClr val="14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D0D8E4"/>
                </a:solidFill>
              </a:defRPr>
            </a:pPr>
            <a:r>
              <a:t>SMA-50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94560" y="1737360"/>
            <a:ext cx="914400" cy="457200"/>
          </a:xfrm>
          <a:prstGeom prst="roundRect">
            <a:avLst/>
          </a:prstGeom>
          <a:solidFill>
            <a:srgbClr val="14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A0AEC0"/>
                </a:solidFill>
              </a:defRPr>
            </a:pPr>
            <a:r>
              <a:t>0.78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1737360"/>
            <a:ext cx="2011680" cy="457200"/>
          </a:xfrm>
          <a:prstGeom prst="roundRect">
            <a:avLst/>
          </a:prstGeom>
          <a:solidFill>
            <a:srgbClr val="27A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SÉLECTIONNÉ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181051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Calibri"/>
              </a:defRPr>
            </a:pPr>
            <a:r>
              <a:t>(premier — meilleur score)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286000"/>
            <a:ext cx="1371600" cy="457200"/>
          </a:xfrm>
          <a:prstGeom prst="roundRect">
            <a:avLst/>
          </a:prstGeom>
          <a:solidFill>
            <a:srgbClr val="14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D0D8E4"/>
                </a:solidFill>
              </a:defRPr>
            </a:pPr>
            <a:r>
              <a:t>SMA-48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94560" y="2286000"/>
            <a:ext cx="914400" cy="457200"/>
          </a:xfrm>
          <a:prstGeom prst="roundRect">
            <a:avLst/>
          </a:prstGeom>
          <a:solidFill>
            <a:srgbClr val="14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A0AEC0"/>
                </a:solidFill>
              </a:defRPr>
            </a:pPr>
            <a:r>
              <a:t>0.75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2286000"/>
            <a:ext cx="2011680" cy="457200"/>
          </a:xfrm>
          <a:prstGeom prst="roundRect">
            <a:avLst/>
          </a:prstGeom>
          <a:solidFill>
            <a:srgbClr val="E0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ÉLIMINÉ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235915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Calibri"/>
              </a:defRPr>
            </a:pPr>
            <a:r>
              <a:t>corrélé à SMA-50 (r = 0.97)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34640"/>
            <a:ext cx="1371600" cy="457200"/>
          </a:xfrm>
          <a:prstGeom prst="roundRect">
            <a:avLst/>
          </a:prstGeom>
          <a:solidFill>
            <a:srgbClr val="14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D0D8E4"/>
                </a:solidFill>
              </a:defRPr>
            </a:pPr>
            <a:r>
              <a:t>SMA-100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94560" y="2834640"/>
            <a:ext cx="914400" cy="457200"/>
          </a:xfrm>
          <a:prstGeom prst="roundRect">
            <a:avLst/>
          </a:prstGeom>
          <a:solidFill>
            <a:srgbClr val="14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A0AEC0"/>
                </a:solidFill>
              </a:defRPr>
            </a:pPr>
            <a:r>
              <a:t>0.71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0" y="2834640"/>
            <a:ext cx="2011680" cy="457200"/>
          </a:xfrm>
          <a:prstGeom prst="roundRect">
            <a:avLst/>
          </a:prstGeom>
          <a:solidFill>
            <a:srgbClr val="27A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SÉLECTIONNÉ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290779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Calibri"/>
              </a:defRPr>
            </a:pPr>
            <a:r>
              <a:t>corrélation faible avec SMA-50 (r = 0.45)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383280"/>
            <a:ext cx="1371600" cy="457200"/>
          </a:xfrm>
          <a:prstGeom prst="roundRect">
            <a:avLst/>
          </a:prstGeom>
          <a:solidFill>
            <a:srgbClr val="14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D0D8E4"/>
                </a:solidFill>
              </a:defRPr>
            </a:pPr>
            <a:r>
              <a:t>SMA-52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94560" y="3383280"/>
            <a:ext cx="914400" cy="457200"/>
          </a:xfrm>
          <a:prstGeom prst="roundRect">
            <a:avLst/>
          </a:prstGeom>
          <a:solidFill>
            <a:srgbClr val="14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A0AEC0"/>
                </a:solidFill>
              </a:defRPr>
            </a:pPr>
            <a:r>
              <a:t>0.69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0" y="3383280"/>
            <a:ext cx="2011680" cy="457200"/>
          </a:xfrm>
          <a:prstGeom prst="roundRect">
            <a:avLst/>
          </a:prstGeom>
          <a:solidFill>
            <a:srgbClr val="E0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ÉLIMINÉ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345643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Calibri"/>
              </a:defRPr>
            </a:pPr>
            <a:r>
              <a:t>corrélé à SMA-50 (r = 0.95)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931920"/>
            <a:ext cx="1371600" cy="457200"/>
          </a:xfrm>
          <a:prstGeom prst="roundRect">
            <a:avLst/>
          </a:prstGeom>
          <a:solidFill>
            <a:srgbClr val="14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D0D8E4"/>
                </a:solidFill>
              </a:defRPr>
            </a:pPr>
            <a:r>
              <a:t>SMA-20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194560" y="3931920"/>
            <a:ext cx="914400" cy="457200"/>
          </a:xfrm>
          <a:prstGeom prst="roundRect">
            <a:avLst/>
          </a:prstGeom>
          <a:solidFill>
            <a:srgbClr val="14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A0AEC0"/>
                </a:solidFill>
              </a:defRPr>
            </a:pPr>
            <a:r>
              <a:t>0.65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0" y="3931920"/>
            <a:ext cx="2011680" cy="457200"/>
          </a:xfrm>
          <a:prstGeom prst="roundRect">
            <a:avLst/>
          </a:prstGeom>
          <a:solidFill>
            <a:srgbClr val="27A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SÉLECTIONNÉ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60" y="400507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Calibri"/>
              </a:defRPr>
            </a:pPr>
            <a:r>
              <a:t>indépendant de tous les sélectionnés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66344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A81E"/>
                </a:solidFill>
                <a:latin typeface="Calibri"/>
              </a:defRPr>
            </a:pPr>
            <a:r>
              <a:t>Algorithme glouton :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D0D8E4"/>
                </a:solidFill>
                <a:latin typeface="Calibri"/>
              </a:defRPr>
            </a:pPr>
            <a:r>
              <a:t>1. Trier par score de fiabilité décroissant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D0D8E4"/>
                </a:solidFill>
                <a:latin typeface="Calibri"/>
              </a:defRPr>
            </a:pPr>
            <a:r>
              <a:t>2. Pour chaque variante : si |corrélation Pearson| &lt; 0.85 avec TOUS les déjà sélectionnés → garder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D0D8E4"/>
                </a:solidFill>
                <a:latin typeface="Calibri"/>
              </a:defRPr>
            </a:pPr>
            <a:r>
              <a:t>3. Sinon → éliminer (en traçant la raison)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D0D8E4"/>
                </a:solidFill>
                <a:latin typeface="Calibri"/>
              </a:defRPr>
            </a:pPr>
            <a:r>
              <a:t>4. Maximum 10 représentants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B93"/>
                </a:solidFill>
                <a:latin typeface="Calibri"/>
              </a:defRPr>
            </a:pPr>
            <a:r>
              <a:t>Ref: de Prado, AFML Ch. 8 — « Correlated features should be clustered to avoid double-counting 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B93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14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82880"/>
            <a:ext cx="109728" cy="594360"/>
          </a:xfrm>
          <a:prstGeom prst="roundRect">
            <a:avLst/>
          </a:prstGeom>
          <a:solidFill>
            <a:srgbClr val="8B7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Couches F &amp; G — Signal Courant et Ensemble Pondéré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EC0"/>
                </a:solidFill>
                <a:latin typeface="Calibri"/>
              </a:defRPr>
            </a:pPr>
            <a:r>
              <a:t>Chaque représentant vote, pondéré par sa fiabilité historique.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2011680" cy="411480"/>
          </a:xfrm>
          <a:prstGeom prst="roundRect">
            <a:avLst/>
          </a:prstGeom>
          <a:solidFill>
            <a:srgbClr val="14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A0AEC0"/>
                </a:solidFill>
              </a:defRPr>
            </a:pPr>
            <a:r>
              <a:t>Représentant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0" y="1737360"/>
            <a:ext cx="1097280" cy="411480"/>
          </a:xfrm>
          <a:prstGeom prst="roundRect">
            <a:avLst/>
          </a:prstGeom>
          <a:solidFill>
            <a:srgbClr val="14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A0AEC0"/>
                </a:solidFill>
              </a:defRPr>
            </a:pPr>
            <a:r>
              <a:t>Signal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23360" y="1737360"/>
            <a:ext cx="1097280" cy="411480"/>
          </a:xfrm>
          <a:prstGeom prst="roundRect">
            <a:avLst/>
          </a:prstGeom>
          <a:solidFill>
            <a:srgbClr val="14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A0AEC0"/>
                </a:solidFill>
              </a:defRPr>
            </a:pPr>
            <a:r>
              <a:t>Poids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0" y="1737360"/>
            <a:ext cx="1828800" cy="411480"/>
          </a:xfrm>
          <a:prstGeom prst="roundRect">
            <a:avLst/>
          </a:prstGeom>
          <a:solidFill>
            <a:srgbClr val="14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A0AEC0"/>
                </a:solidFill>
              </a:defRPr>
            </a:pPr>
            <a:r>
              <a:t>Contribution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240280"/>
            <a:ext cx="2011680" cy="411480"/>
          </a:xfrm>
          <a:prstGeom prst="roundRect">
            <a:avLst/>
          </a:prstGeom>
          <a:solidFill>
            <a:srgbClr val="14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D0D8E4"/>
                </a:solidFill>
              </a:defRPr>
            </a:pPr>
            <a:r>
              <a:t>SMA-50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2240280"/>
            <a:ext cx="1097280" cy="411480"/>
          </a:xfrm>
          <a:prstGeom prst="roundRect">
            <a:avLst/>
          </a:prstGeom>
          <a:solidFill>
            <a:srgbClr val="27A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BUY (+1)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30428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0D8E4"/>
                </a:solidFill>
                <a:latin typeface="Calibri"/>
              </a:defRPr>
            </a:pPr>
            <a:r>
              <a:t>0.78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230428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EC0"/>
                </a:solidFill>
                <a:latin typeface="Calibri"/>
              </a:defRPr>
            </a:pPr>
            <a:r>
              <a:t>+1.0 × 0.78 = +0.78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697480"/>
            <a:ext cx="2011680" cy="411480"/>
          </a:xfrm>
          <a:prstGeom prst="roundRect">
            <a:avLst/>
          </a:prstGeom>
          <a:solidFill>
            <a:srgbClr val="14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D0D8E4"/>
                </a:solidFill>
              </a:defRPr>
            </a:pPr>
            <a:r>
              <a:t>SMA-100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34640" y="2697480"/>
            <a:ext cx="1097280" cy="411480"/>
          </a:xfrm>
          <a:prstGeom prst="roundRect">
            <a:avLst/>
          </a:prstGeom>
          <a:solidFill>
            <a:srgbClr val="27A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BUY (+1)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76148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0D8E4"/>
                </a:solidFill>
                <a:latin typeface="Calibri"/>
              </a:defRPr>
            </a:pPr>
            <a:r>
              <a:t>0.71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276148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EC0"/>
                </a:solidFill>
                <a:latin typeface="Calibri"/>
              </a:defRPr>
            </a:pPr>
            <a:r>
              <a:t>+1.0 × 0.71 = +0.71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154680"/>
            <a:ext cx="2011680" cy="411480"/>
          </a:xfrm>
          <a:prstGeom prst="roundRect">
            <a:avLst/>
          </a:prstGeom>
          <a:solidFill>
            <a:srgbClr val="14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D0D8E4"/>
                </a:solidFill>
              </a:defRPr>
            </a:pPr>
            <a:r>
              <a:t>SMA-20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34640" y="3154680"/>
            <a:ext cx="1097280" cy="411480"/>
          </a:xfrm>
          <a:prstGeom prst="roundRect">
            <a:avLst/>
          </a:prstGeom>
          <a:solidFill>
            <a:srgbClr val="E0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SELL (-1)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321868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0D8E4"/>
                </a:solidFill>
                <a:latin typeface="Calibri"/>
              </a:defRPr>
            </a:pPr>
            <a:r>
              <a:t>0.65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321868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EC0"/>
                </a:solidFill>
                <a:latin typeface="Calibri"/>
              </a:defRPr>
            </a:pPr>
            <a:r>
              <a:t>-1.0 × 0.65 = -0.65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749040"/>
            <a:ext cx="6309360" cy="548640"/>
          </a:xfrm>
          <a:prstGeom prst="roundRect">
            <a:avLst/>
          </a:prstGeom>
          <a:solidFill>
            <a:srgbClr val="27A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Score = (+0.78 + 0.71 - 0.65) / 2.14 = +39.3%  →  ACHAT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1737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B72CF"/>
                </a:solidFill>
                <a:latin typeface="Calibri"/>
              </a:defRPr>
            </a:pPr>
            <a:r>
              <a:t>Échelle de décision :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0" y="2286000"/>
            <a:ext cx="1371600" cy="365760"/>
          </a:xfrm>
          <a:prstGeom prst="roundRect">
            <a:avLst/>
          </a:prstGeom>
          <a:solidFill>
            <a:srgbClr val="14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A0AEC0"/>
                </a:solidFill>
              </a:defRPr>
            </a:pPr>
            <a:r>
              <a:t>&lt; -50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35440" y="2286000"/>
            <a:ext cx="2011680" cy="365760"/>
          </a:xfrm>
          <a:prstGeom prst="roundRect">
            <a:avLst/>
          </a:prstGeom>
          <a:solidFill>
            <a:srgbClr val="E0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VENTE FORTE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0" y="2724912"/>
            <a:ext cx="1371600" cy="365760"/>
          </a:xfrm>
          <a:prstGeom prst="roundRect">
            <a:avLst/>
          </a:prstGeom>
          <a:solidFill>
            <a:srgbClr val="14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A0AEC0"/>
                </a:solidFill>
              </a:defRPr>
            </a:pPr>
            <a:r>
              <a:t>-50 à -15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35440" y="2724912"/>
            <a:ext cx="2011680" cy="365760"/>
          </a:xfrm>
          <a:prstGeom prst="roundRect">
            <a:avLst/>
          </a:prstGeom>
          <a:solidFill>
            <a:srgbClr val="E09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VENTE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0" y="3163824"/>
            <a:ext cx="1371600" cy="365760"/>
          </a:xfrm>
          <a:prstGeom prst="roundRect">
            <a:avLst/>
          </a:prstGeom>
          <a:solidFill>
            <a:srgbClr val="14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A0AEC0"/>
                </a:solidFill>
              </a:defRPr>
            </a:pPr>
            <a:r>
              <a:t>-15 à +15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35440" y="3163824"/>
            <a:ext cx="2011680" cy="365760"/>
          </a:xfrm>
          <a:prstGeom prst="roundRect">
            <a:avLst/>
          </a:prstGeom>
          <a:solidFill>
            <a:srgbClr val="A0A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NEUTRE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0" y="3602736"/>
            <a:ext cx="1371600" cy="365760"/>
          </a:xfrm>
          <a:prstGeom prst="roundRect">
            <a:avLst/>
          </a:prstGeom>
          <a:solidFill>
            <a:srgbClr val="14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A0AEC0"/>
                </a:solidFill>
              </a:defRPr>
            </a:pPr>
            <a:r>
              <a:t>+15 à +50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35440" y="3602736"/>
            <a:ext cx="2011680" cy="365760"/>
          </a:xfrm>
          <a:prstGeom prst="roundRect">
            <a:avLst/>
          </a:prstGeom>
          <a:solidFill>
            <a:srgbClr val="5DB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ACHAT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0" y="4041648"/>
            <a:ext cx="1371600" cy="365760"/>
          </a:xfrm>
          <a:prstGeom prst="roundRect">
            <a:avLst/>
          </a:prstGeom>
          <a:solidFill>
            <a:srgbClr val="14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A0AEC0"/>
                </a:solidFill>
              </a:defRPr>
            </a:pPr>
            <a:r>
              <a:t>&gt; +50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35440" y="4041648"/>
            <a:ext cx="2011680" cy="365760"/>
          </a:xfrm>
          <a:prstGeom prst="roundRect">
            <a:avLst/>
          </a:prstGeom>
          <a:solidFill>
            <a:srgbClr val="27A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ACHAT FORT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47548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72CF"/>
                </a:solidFill>
                <a:latin typeface="Calibri"/>
              </a:defRPr>
            </a:pPr>
            <a:r>
              <a:t>Pourquoi la pondération par fiabilité ?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D0D8E4"/>
                </a:solidFill>
                <a:latin typeface="Calibri"/>
              </a:defRPr>
            </a:pPr>
            <a:r>
              <a:t>▸  L'equal-weighting donnerait trop de pouvoir aux variantes marginales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D0D8E4"/>
                </a:solidFill>
                <a:latin typeface="Calibri"/>
              </a:defRPr>
            </a:pPr>
            <a:r>
              <a:t>▸  Les variantes les plus robustes historiquement ont plus d'influence sur la décision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D0D8E4"/>
                </a:solidFill>
                <a:latin typeface="Calibri"/>
              </a:defRPr>
            </a:pPr>
            <a:r>
              <a:t>▸  Même principe que le boosting en machine learning (Breiman, 1996)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B93"/>
                </a:solidFill>
                <a:latin typeface="Calibri"/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B93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14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82880"/>
            <a:ext cx="109728" cy="594360"/>
          </a:xfrm>
          <a:prstGeom prst="roundRect">
            <a:avLst/>
          </a:prstGeom>
          <a:solidFill>
            <a:srgbClr val="389F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L'Entonnoir Complet — Exemple SMA, Moyen Terme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280160"/>
            <a:ext cx="2560320" cy="777240"/>
          </a:xfrm>
          <a:prstGeom prst="roundRect">
            <a:avLst/>
          </a:prstGeom>
          <a:solidFill>
            <a:srgbClr val="6B7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TESTÉES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1280160"/>
            <a:ext cx="1097280" cy="777240"/>
          </a:xfrm>
          <a:prstGeom prst="roundRect">
            <a:avLst/>
          </a:prstGeom>
          <a:solidFill>
            <a:srgbClr val="14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B7B93"/>
                </a:solidFill>
              </a:defRPr>
            </a:pPr>
            <a:r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353312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8E4"/>
                </a:solidFill>
                <a:latin typeface="Calibri"/>
              </a:defRPr>
            </a:pPr>
            <a:r>
              <a:t>Toutes les variantes SMA</a:t>
            </a:r>
            <a:br/>
            <a:r>
              <a:t>(fenêtres de 10 à 250 jours)</a:t>
            </a:r>
          </a:p>
        </p:txBody>
      </p:sp>
      <p:sp>
        <p:nvSpPr>
          <p:cNvPr id="8" name="Down Arrow 7"/>
          <p:cNvSpPr/>
          <p:nvPr/>
        </p:nvSpPr>
        <p:spPr>
          <a:xfrm>
            <a:off x="2103120" y="2103120"/>
            <a:ext cx="228600" cy="182880"/>
          </a:xfrm>
          <a:prstGeom prst="downArrow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2286000"/>
            <a:ext cx="2560320" cy="777240"/>
          </a:xfrm>
          <a:prstGeom prst="roundRect">
            <a:avLst/>
          </a:prstGeom>
          <a:solidFill>
            <a:srgbClr val="389F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VIABLES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2286000"/>
            <a:ext cx="1097280" cy="777240"/>
          </a:xfrm>
          <a:prstGeom prst="roundRect">
            <a:avLst/>
          </a:prstGeom>
          <a:solidFill>
            <a:srgbClr val="14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389FDD"/>
                </a:solidFill>
              </a:defRPr>
            </a:pPr>
            <a:r>
              <a:t>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359152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8E4"/>
                </a:solidFill>
                <a:latin typeface="Calibri"/>
              </a:defRPr>
            </a:pPr>
            <a:r>
              <a:t>-12 éliminées</a:t>
            </a:r>
            <a:br/>
            <a:r>
              <a:t>(Sharpe négatif &gt; 60% du temps)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2103120" y="3108960"/>
            <a:ext cx="228600" cy="182880"/>
          </a:xfrm>
          <a:prstGeom prst="downArrow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" y="3291840"/>
            <a:ext cx="2560320" cy="777240"/>
          </a:xfrm>
          <a:prstGeom prst="roundRect">
            <a:avLst/>
          </a:prstGeom>
          <a:solidFill>
            <a:srgbClr val="27A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COMPÉTITIFS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0" y="3291840"/>
            <a:ext cx="1097280" cy="777240"/>
          </a:xfrm>
          <a:prstGeom prst="roundRect">
            <a:avLst/>
          </a:prstGeom>
          <a:solidFill>
            <a:srgbClr val="14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27AE7A"/>
                </a:solidFill>
              </a:defRPr>
            </a:pPr>
            <a:r>
              <a:t>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364992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8E4"/>
                </a:solidFill>
                <a:latin typeface="Calibri"/>
              </a:defRPr>
            </a:pPr>
            <a:r>
              <a:t>-7 éliminées</a:t>
            </a:r>
            <a:br/>
            <a:r>
              <a:t>(score &lt; 0.25 ou hors top 60%)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2103120" y="4114800"/>
            <a:ext cx="228600" cy="182880"/>
          </a:xfrm>
          <a:prstGeom prst="downArrow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4400" y="4297680"/>
            <a:ext cx="2560320" cy="777240"/>
          </a:xfrm>
          <a:prstGeom prst="roundRect">
            <a:avLst/>
          </a:prstGeom>
          <a:solidFill>
            <a:srgbClr val="8B7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REPRÉSENTATIFS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0" y="4297680"/>
            <a:ext cx="1097280" cy="777240"/>
          </a:xfrm>
          <a:prstGeom prst="roundRect">
            <a:avLst/>
          </a:prstGeom>
          <a:solidFill>
            <a:srgbClr val="14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8B72CF"/>
                </a:solidFill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4370832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8E4"/>
                </a:solidFill>
                <a:latin typeface="Calibri"/>
              </a:defRPr>
            </a:pPr>
            <a:r>
              <a:t>-6 éliminées</a:t>
            </a:r>
            <a:br/>
            <a:r>
              <a:t>(corrélation &gt; 0.85 avec un meilleur)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2103120" y="5120640"/>
            <a:ext cx="228600" cy="182880"/>
          </a:xfrm>
          <a:prstGeom prst="downArrow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4400" y="5303520"/>
            <a:ext cx="2560320" cy="777240"/>
          </a:xfrm>
          <a:prstGeom prst="roundRect">
            <a:avLst/>
          </a:prstGeom>
          <a:solidFill>
            <a:srgbClr val="E0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SCORE FINAL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0" y="5303520"/>
            <a:ext cx="1097280" cy="777240"/>
          </a:xfrm>
          <a:prstGeom prst="roundRect">
            <a:avLst/>
          </a:prstGeom>
          <a:solidFill>
            <a:srgbClr val="14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E05D5D"/>
                </a:solidFill>
              </a:defRPr>
            </a:pPr>
            <a:r>
              <a:t>+42.7%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5376672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8E4"/>
                </a:solidFill>
                <a:latin typeface="Calibri"/>
              </a:defRPr>
            </a:pPr>
            <a:r>
              <a:t>→ ACHAT</a:t>
            </a:r>
            <a:br/>
            <a:r>
              <a:t>(3 BUY + 2 HOLD pondérés)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B93"/>
                </a:solidFill>
                <a:latin typeface="Calibri"/>
              </a:defRPr>
            </a:pPr>
            <a:r>
              <a:t>Les chiffres varient selon le symbole et l'horizon — ceci est un exemple représentatif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B93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14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82880"/>
            <a:ext cx="109728" cy="594360"/>
          </a:xfrm>
          <a:prstGeom prst="roundRect">
            <a:avLst/>
          </a:prstGeom>
          <a:solidFill>
            <a:srgbClr val="389F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Honnêteté Méthodologique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109728" cy="868680"/>
          </a:xfrm>
          <a:prstGeom prst="roundRect">
            <a:avLst/>
          </a:prstGeom>
          <a:solidFill>
            <a:srgbClr val="27A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20700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7A"/>
                </a:solidFill>
                <a:latin typeface="Calibri"/>
              </a:defRPr>
            </a:pPr>
            <a:r>
              <a:t>Pas de cherry-picking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53619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8E4"/>
                </a:solidFill>
                <a:latin typeface="Calibri"/>
              </a:defRPr>
            </a:pPr>
            <a:r>
              <a:t>On ne choisit jamais « le meilleur » indicateur.</a:t>
            </a:r>
            <a:br/>
            <a:r>
              <a:t>On élimine les mauvais et on combine les survivants.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94560"/>
            <a:ext cx="109728" cy="868680"/>
          </a:xfrm>
          <a:prstGeom prst="roundRect">
            <a:avLst/>
          </a:prstGeom>
          <a:solidFill>
            <a:srgbClr val="27A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21284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7A"/>
                </a:solidFill>
                <a:latin typeface="Calibri"/>
              </a:defRPr>
            </a:pPr>
            <a:r>
              <a:t>Pas de look-ahead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54203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8E4"/>
                </a:solidFill>
                <a:latin typeface="Calibri"/>
              </a:defRPr>
            </a:pPr>
            <a:r>
              <a:t>Le signal est calculé une fois, évalué uniquement</a:t>
            </a:r>
            <a:br/>
            <a:r>
              <a:t>dans le futur relatif de chaque fenêtre.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00400"/>
            <a:ext cx="109728" cy="868680"/>
          </a:xfrm>
          <a:prstGeom prst="roundRect">
            <a:avLst/>
          </a:prstGeom>
          <a:solidFill>
            <a:srgbClr val="E6A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21868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A81E"/>
                </a:solidFill>
                <a:latin typeface="Calibri"/>
              </a:defRPr>
            </a:pPr>
            <a:r>
              <a:t>Pas de faux signaux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54787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8E4"/>
                </a:solidFill>
                <a:latin typeface="Calibri"/>
              </a:defRPr>
            </a:pPr>
            <a:r>
              <a:t>Les familles non encore implémentées (RSI, MACD, OBV)</a:t>
            </a:r>
            <a:br/>
            <a:r>
              <a:t>affichent « N/A », pas un score provisoire.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06240"/>
            <a:ext cx="109728" cy="868680"/>
          </a:xfrm>
          <a:prstGeom prst="roundRect">
            <a:avLst/>
          </a:prstGeom>
          <a:solidFill>
            <a:srgbClr val="E6A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22452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A81E"/>
                </a:solidFill>
                <a:latin typeface="Calibri"/>
              </a:defRPr>
            </a:pPr>
            <a:r>
              <a:t>Pas de seuils optimisés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55371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8E4"/>
                </a:solidFill>
                <a:latin typeface="Calibri"/>
              </a:defRPr>
            </a:pPr>
            <a:r>
              <a:t>Les seuils (0.85 corrélation, 0.25 plancher, 40% viabilité)</a:t>
            </a:r>
            <a:br/>
            <a:r>
              <a:t>sont fixés a priori, pas ajustés sur les données.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212080"/>
            <a:ext cx="109728" cy="868680"/>
          </a:xfrm>
          <a:prstGeom prst="roundRect">
            <a:avLst/>
          </a:prstGeom>
          <a:solidFill>
            <a:srgbClr val="389F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523036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9FDD"/>
                </a:solidFill>
                <a:latin typeface="Calibri"/>
              </a:defRPr>
            </a:pPr>
            <a:r>
              <a:t>Transparence totale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55595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8E4"/>
                </a:solidFill>
                <a:latin typeface="Calibri"/>
              </a:defRPr>
            </a:pPr>
            <a:r>
              <a:t>Chaque élimination est tracée avec sa raison.</a:t>
            </a:r>
            <a:br/>
            <a:r>
              <a:t>Chaque fenêtre OOS est inspectable individuellement.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B93"/>
                </a:solidFill>
                <a:latin typeface="Calibri"/>
              </a:defRPr>
            </a:pPr>
            <a:r>
              <a:t>En cas de doute, le système produit NEUTRE — jamais de signal forcé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B93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14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82880"/>
            <a:ext cx="109728" cy="594360"/>
          </a:xfrm>
          <a:prstGeom prst="roundRect">
            <a:avLst/>
          </a:prstGeom>
          <a:solidFill>
            <a:srgbClr val="389F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Interface Utilisateur — Navigation en 3 Niveaux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2286000" cy="1371600"/>
          </a:xfrm>
          <a:prstGeom prst="roundRect">
            <a:avLst/>
          </a:prstGeom>
          <a:solidFill>
            <a:srgbClr val="389F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Niveau 0</a:t>
            </a:r>
            <a:br/>
            <a:r>
              <a:t>Vue d'ensemble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141732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0D8E4"/>
                </a:solidFill>
                <a:latin typeface="Calibri"/>
              </a:defRPr>
            </a:pPr>
            <a:r>
              <a:t>Speedomètre avec score global</a:t>
            </a:r>
            <a:br/>
            <a:r>
              <a:t>Un chiffre, une direction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41732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Calibri"/>
              </a:defRPr>
            </a:pPr>
            <a:r>
              <a:t>Le décideur veut</a:t>
            </a:r>
            <a:br/>
            <a:r>
              <a:t>une réponse rapide</a:t>
            </a:r>
          </a:p>
        </p:txBody>
      </p:sp>
      <p:sp>
        <p:nvSpPr>
          <p:cNvPr id="8" name="Down Arrow 7"/>
          <p:cNvSpPr/>
          <p:nvPr/>
        </p:nvSpPr>
        <p:spPr>
          <a:xfrm>
            <a:off x="1828800" y="2697480"/>
            <a:ext cx="228600" cy="182880"/>
          </a:xfrm>
          <a:prstGeom prst="downArrow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926080"/>
            <a:ext cx="2286000" cy="1371600"/>
          </a:xfrm>
          <a:prstGeom prst="roundRect">
            <a:avLst/>
          </a:prstGeom>
          <a:solidFill>
            <a:srgbClr val="27A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Niveau 1</a:t>
            </a:r>
            <a:br/>
            <a:r>
              <a:t>4 Familles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306324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0D8E4"/>
                </a:solidFill>
                <a:latin typeface="Calibri"/>
              </a:defRPr>
            </a:pPr>
            <a:r>
              <a:t>SMA | RSI | MACD | OBV</a:t>
            </a:r>
            <a:br/>
            <a:r>
              <a:t>Chaque famille avec son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30632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Calibri"/>
              </a:defRPr>
            </a:pPr>
            <a:r>
              <a:t>L'analyste veut savoir</a:t>
            </a:r>
            <a:br/>
            <a:r>
              <a:t>quelle famille contribue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1828800" y="4343400"/>
            <a:ext cx="228600" cy="182880"/>
          </a:xfrm>
          <a:prstGeom prst="downArrow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4572000"/>
            <a:ext cx="2286000" cy="1371600"/>
          </a:xfrm>
          <a:prstGeom prst="roundRect">
            <a:avLst/>
          </a:prstGeom>
          <a:solidFill>
            <a:srgbClr val="8B7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Niveau 2</a:t>
            </a:r>
            <a:br/>
            <a:r>
              <a:t>Drilldown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470916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0D8E4"/>
                </a:solidFill>
                <a:latin typeface="Calibri"/>
              </a:defRPr>
            </a:pPr>
            <a:r>
              <a:t>Entonnoir de filtrage + représentants</a:t>
            </a:r>
            <a:br/>
            <a:r>
              <a:t>Cliquer → page détail variante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7091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Calibri"/>
              </a:defRPr>
            </a:pPr>
            <a:r>
              <a:t>Le quant veut inspecter</a:t>
            </a:r>
            <a:br/>
            <a:r>
              <a:t>chaque variante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309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B93"/>
                </a:solidFill>
                <a:latin typeface="Calibri"/>
              </a:defRPr>
            </a:pPr>
            <a:r>
              <a:t>Chaque niveau s'adresse à un profil utilisateur différent, du plus synthétique au plus granulaire.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B93"/>
                </a:solidFill>
                <a:latin typeface="Calibri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B93"/>
                </a:solidFill>
                <a:latin typeface="Calibr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14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82880"/>
            <a:ext cx="109728" cy="594360"/>
          </a:xfrm>
          <a:prstGeom prst="roundRect">
            <a:avLst/>
          </a:prstGeom>
          <a:solidFill>
            <a:srgbClr val="389F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Extensibilité — Ajouter une Famille d'Indicateurs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7AE7A"/>
                </a:solidFill>
                <a:latin typeface="Calibri"/>
              </a:defRPr>
            </a:pPr>
            <a:r>
              <a:t>Processus en 2 étapes :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600" b="1">
                <a:solidFill>
                  <a:srgbClr val="389FDD"/>
                </a:solidFill>
                <a:latin typeface="Calibri"/>
              </a:defRPr>
            </a:pPr>
            <a:r>
              <a:t>Étape 1 — Enregistrer les variantes (candidates.py)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D0D8E4"/>
                </a:solidFill>
                <a:latin typeface="Calibri"/>
              </a:defRPr>
            </a:pPr>
            <a:r>
              <a:t>@register_family("bollinger", n_variants=30)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D0D8E4"/>
                </a:solidFill>
                <a:latin typeface="Calibri"/>
              </a:defRPr>
            </a:pPr>
            <a:r>
              <a:t>def _bollinger_variants(horizon):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D0D8E4"/>
                </a:solidFill>
                <a:latin typeface="Calibri"/>
              </a:defRPr>
            </a:pPr>
            <a:r>
              <a:t>    return [VariantDef(..., params={"period": p, "std": s}) for p, s in grid]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600" b="1">
                <a:solidFill>
                  <a:srgbClr val="389FDD"/>
                </a:solidFill>
                <a:latin typeface="Calibri"/>
              </a:defRPr>
            </a:pPr>
            <a:r>
              <a:t>Étape 2 — Enregistrer le calcul du signal (oos_eval.py)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D0D8E4"/>
                </a:solidFill>
                <a:latin typeface="Calibri"/>
              </a:defRPr>
            </a:pPr>
            <a:r>
              <a:t>@register_signal("bollinger", "bb_squeeze")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D0D8E4"/>
                </a:solidFill>
                <a:latin typeface="Calibri"/>
              </a:defRPr>
            </a:pPr>
            <a:r>
              <a:t>def _bollinger_signal(close, volume, params):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D0D8E4"/>
                </a:solidFill>
                <a:latin typeface="Calibri"/>
              </a:defRPr>
            </a:pPr>
            <a:r>
              <a:t>    upper, lower = bollinger_bands(close, params["period"], params["std"])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D0D8E4"/>
                </a:solidFill>
                <a:latin typeface="Calibri"/>
              </a:defRPr>
            </a:pPr>
            <a:r>
              <a:t>    return np.where(close &lt; lower, +1.0, np.where(close &gt; upper, -1.0, 0.0))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600" b="1">
                <a:solidFill>
                  <a:srgbClr val="27AE7A"/>
                </a:solidFill>
                <a:latin typeface="Calibri"/>
              </a:defRPr>
            </a:pPr>
            <a:r>
              <a:t>C'est tout. Le pipeline (couches B→G) s'applique automatiquement.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A0AEC0"/>
                </a:solidFill>
                <a:latin typeface="Calibri"/>
              </a:defRPr>
            </a:pPr>
            <a:r>
              <a:t>Aucune modification de l'API, du frontend, ou du pipeline de filtrage.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B93"/>
                </a:solidFill>
                <a:latin typeface="Calibri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B93"/>
                </a:solidFill>
                <a:latin typeface="Calibr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14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82880"/>
            <a:ext cx="109728" cy="594360"/>
          </a:xfrm>
          <a:prstGeom prst="roundRect">
            <a:avLst/>
          </a:prstGeom>
          <a:solidFill>
            <a:srgbClr val="389F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Fondements Théoriques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73152" cy="548640"/>
          </a:xfrm>
          <a:prstGeom prst="roundRect">
            <a:avLst/>
          </a:prstGeom>
          <a:solidFill>
            <a:srgbClr val="389F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280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9FDD"/>
                </a:solidFill>
                <a:latin typeface="Calibri"/>
              </a:defRPr>
            </a:pPr>
            <a:r>
              <a:t>Walk-Forward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Pardo (2008), Ch. 7-9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3716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8E4"/>
                </a:solidFill>
                <a:latin typeface="Calibri"/>
              </a:defRPr>
            </a:pPr>
            <a:r>
              <a:t>→  Couche B : fenêtres roulantes OOS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38528"/>
            <a:ext cx="73152" cy="548640"/>
          </a:xfrm>
          <a:prstGeom prst="roundRect">
            <a:avLst/>
          </a:prstGeom>
          <a:solidFill>
            <a:srgbClr val="389F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9385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9FDD"/>
                </a:solidFill>
                <a:latin typeface="Calibri"/>
              </a:defRPr>
            </a:pPr>
            <a:r>
              <a:t>Deflated Sharpe Ratio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1284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Bailey &amp; de Prado (2014)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029968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8E4"/>
                </a:solidFill>
                <a:latin typeface="Calibri"/>
              </a:defRPr>
            </a:pPr>
            <a:r>
              <a:t>→  Justification du filtrage vs. sélection du « meilleur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596896"/>
            <a:ext cx="73152" cy="548640"/>
          </a:xfrm>
          <a:prstGeom prst="roundRect">
            <a:avLst/>
          </a:prstGeom>
          <a:solidFill>
            <a:srgbClr val="27A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59689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7A"/>
                </a:solidFill>
                <a:latin typeface="Calibri"/>
              </a:defRPr>
            </a:pPr>
            <a:r>
              <a:t>Feature Clustering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87121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de Prado (2018), Ch. 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688336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8E4"/>
                </a:solidFill>
                <a:latin typeface="Calibri"/>
              </a:defRPr>
            </a:pPr>
            <a:r>
              <a:t>→  Couche E : réduction de redondance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255264"/>
            <a:ext cx="73152" cy="548640"/>
          </a:xfrm>
          <a:prstGeom prst="roundRect">
            <a:avLst/>
          </a:prstGeom>
          <a:solidFill>
            <a:srgbClr val="27A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25526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7A"/>
                </a:solidFill>
                <a:latin typeface="Calibri"/>
              </a:defRPr>
            </a:pPr>
            <a:r>
              <a:t>Ensemble Methods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52958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Breiman (1996)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346704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8E4"/>
                </a:solidFill>
                <a:latin typeface="Calibri"/>
              </a:defRPr>
            </a:pPr>
            <a:r>
              <a:t>→  Couche G : combinaison pondérée de weak learners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913632"/>
            <a:ext cx="73152" cy="548640"/>
          </a:xfrm>
          <a:prstGeom prst="roundRect">
            <a:avLst/>
          </a:prstGeom>
          <a:solidFill>
            <a:srgbClr val="E6A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391363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A81E"/>
                </a:solidFill>
                <a:latin typeface="Calibri"/>
              </a:defRPr>
            </a:pPr>
            <a:r>
              <a:t>Multi-Factor Scoring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1879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Grinold &amp; Kahn (2000)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005072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8E4"/>
                </a:solidFill>
                <a:latin typeface="Calibri"/>
              </a:defRPr>
            </a:pPr>
            <a:r>
              <a:t>→  Couche C : pondération multi-critères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572000"/>
            <a:ext cx="73152" cy="548640"/>
          </a:xfrm>
          <a:prstGeom prst="roundRect">
            <a:avLst/>
          </a:prstGeom>
          <a:solidFill>
            <a:srgbClr val="E6A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572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A81E"/>
                </a:solidFill>
                <a:latin typeface="Calibri"/>
              </a:defRPr>
            </a:pPr>
            <a:r>
              <a:t>Reality Check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846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White (2000)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466344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8E4"/>
                </a:solidFill>
                <a:latin typeface="Calibri"/>
              </a:defRPr>
            </a:pPr>
            <a:r>
              <a:t>→  Jamais d'évaluation sur données d'entraînement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230368"/>
            <a:ext cx="73152" cy="548640"/>
          </a:xfrm>
          <a:prstGeom prst="roundRect">
            <a:avLst/>
          </a:prstGeom>
          <a:solidFill>
            <a:srgbClr val="8B7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52303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72CF"/>
                </a:solidFill>
                <a:latin typeface="Calibri"/>
              </a:defRPr>
            </a:pPr>
            <a:r>
              <a:t>Transaction Costs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55046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de Prado (2018), Ch. 14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5321808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8E4"/>
                </a:solidFill>
                <a:latin typeface="Calibri"/>
              </a:defRPr>
            </a:pPr>
            <a:r>
              <a:t>→  Couche B : coûts inclus dans chaque fenêtre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B93"/>
                </a:solidFill>
                <a:latin typeface="Calibri"/>
              </a:defRPr>
            </a:pPr>
          </a:p>
        </p:txBody>
      </p:sp>
      <p:sp>
        <p:nvSpPr>
          <p:cNvPr id="34" name="TextBox 33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B93"/>
                </a:solidFill>
                <a:latin typeface="Calibr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28800" y="2011680"/>
            <a:ext cx="8503920" cy="36576"/>
          </a:xfrm>
          <a:prstGeom prst="roundRect">
            <a:avLst/>
          </a:prstGeom>
          <a:solidFill>
            <a:srgbClr val="27A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56032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Merci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38328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7AE7A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4206240"/>
            <a:ext cx="8503920" cy="36576"/>
          </a:xfrm>
          <a:prstGeom prst="roundRect">
            <a:avLst/>
          </a:prstGeom>
          <a:solidFill>
            <a:srgbClr val="14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45720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B93"/>
                </a:solidFill>
                <a:latin typeface="Calibri"/>
              </a:defRPr>
            </a:pPr>
            <a:r>
              <a:t>« The goal is not to find the best strategy,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6B7B93"/>
                </a:solidFill>
                <a:latin typeface="Calibri"/>
              </a:defRPr>
            </a:pPr>
            <a:r>
              <a:t>but to eliminate the worst ones and combine the survivors. »</a:t>
            </a:r>
          </a:p>
          <a:p>
            <a:pPr algn="l">
              <a:spcBef>
                <a:spcPts val="800"/>
              </a:spcBef>
              <a:defRPr sz="1200" b="1">
                <a:solidFill>
                  <a:srgbClr val="27AE7A"/>
                </a:solidFill>
                <a:latin typeface="Calibri"/>
              </a:defRPr>
            </a:pPr>
            <a:r>
              <a:t>— Principe d'ensemble (Breiman, 1996 ; de Prado, 2018)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