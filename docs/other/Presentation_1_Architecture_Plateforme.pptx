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2011680"/>
            <a:ext cx="8503920" cy="36576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Plateforme de Backtesting</a:t>
            </a:r>
            <a:br/>
            <a:r>
              <a:t>Quantitatif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89FDD"/>
                </a:solidFill>
                <a:latin typeface="Calibri"/>
              </a:defRPr>
            </a:pPr>
            <a:r>
              <a:t>Architecture modulaire inspirée des trading desks quantitatifs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754880"/>
            <a:ext cx="8503920" cy="36576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Stage — Banque d'Investissement  •  Casablanca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Contexte &amp; Objectif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D8E4"/>
                </a:solidFill>
                <a:latin typeface="Calibri"/>
              </a:defRPr>
            </a:pPr>
            <a:r>
              <a:t>▸   Les approches traditionnelles de backtesting mélangent tout dans un seul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1051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D8E4"/>
                </a:solidFill>
                <a:latin typeface="Calibri"/>
              </a:defRPr>
            </a:pPr>
            <a:r>
              <a:t>▸   Résultat : on confond chance et performance réelle (overfitting)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40864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D8E4"/>
                </a:solidFill>
                <a:latin typeface="Calibri"/>
              </a:defRPr>
            </a:pPr>
            <a:r>
              <a:t>▸   Les grandes firmes quantitatives (Two Sigma, AQR, Man Group) structurent leur recherche en étapes indépendantes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71216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D8E4"/>
                </a:solidFill>
                <a:latin typeface="Calibri"/>
              </a:defRPr>
            </a:pPr>
            <a:r>
              <a:t>▸   Marcos López de Prado formalise cette approche dans « Advances in Financial Machine Learning » (2018)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01568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D8E4"/>
                </a:solidFill>
                <a:latin typeface="Calibri"/>
              </a:defRPr>
            </a:pPr>
            <a:r>
              <a:t>▸   Objectif : construire une plateforme qui respecte cette discipline, adaptée au marché marocain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Ref: de Prado, AFML Ch. 1 — « Structure research as a production chain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Comment un Desk Quantitatif Fonctionne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De Prado décrit 5 méta-étapes dans la production d'une stratégie (AFML, Ch. 1) 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965960" cy="118872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Data</a:t>
            </a:r>
            <a:br/>
            <a:r>
              <a:t>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Données propres,</a:t>
            </a:r>
            <a:br/>
            <a:r>
              <a:t>vérifiées, sans biais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286000"/>
            <a:ext cx="320040" cy="27432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8920" y="1828800"/>
            <a:ext cx="1965960" cy="118872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Feature</a:t>
            </a:r>
            <a:br/>
            <a:r>
              <a:t>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1546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Signaux évalués</a:t>
            </a:r>
            <a:br/>
            <a:r>
              <a:t>et validés OOS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00600" y="2286000"/>
            <a:ext cx="320040" cy="27432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0640" y="1828800"/>
            <a:ext cx="1965960" cy="118872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Strategy</a:t>
            </a:r>
            <a:br/>
            <a: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1546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Règles d'entrée,</a:t>
            </a:r>
            <a:br/>
            <a:r>
              <a:t>sortie, sizing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32320" y="2286000"/>
            <a:ext cx="320040" cy="27432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52360" y="1828800"/>
            <a:ext cx="1965960" cy="118872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Back-</a:t>
            </a:r>
            <a:br/>
            <a:r>
              <a:t>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1546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Validation</a:t>
            </a:r>
            <a:br/>
            <a:r>
              <a:t>walk-forward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64040" y="2286000"/>
            <a:ext cx="320040" cy="27432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84080" y="1828800"/>
            <a:ext cx="1965960" cy="1188720"/>
          </a:xfrm>
          <a:prstGeom prst="round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Deploy-</a:t>
            </a:r>
            <a:br/>
            <a:r>
              <a:t>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1546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Exécution live</a:t>
            </a:r>
            <a:br/>
            <a:r>
              <a:t>et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93"/>
                </a:solidFill>
                <a:latin typeface="Calibri"/>
              </a:defRPr>
            </a:pPr>
            <a:r>
              <a:t>« Chaque étape est un module indépendant. Un data scientist ne touche pas au code d'exécution.</a:t>
            </a:r>
            <a:br/>
            <a:r>
              <a:t>Un portfolio manager ne modifie pas le pipeline de données. »</a:t>
            </a:r>
          </a:p>
          <a:p>
            <a:pPr algn="l">
              <a:spcBef>
                <a:spcPts val="1200"/>
              </a:spcBef>
              <a:defRPr sz="1400" b="1">
                <a:solidFill>
                  <a:srgbClr val="D0D8E4"/>
                </a:solidFill>
                <a:latin typeface="Calibri"/>
              </a:defRPr>
            </a:pPr>
            <a:r>
              <a:t>Principe clé : le livrable de chaque étape est validé avant de passer à la suivante.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Ref: de Prado, Advances in Financial Machine Learning, Ch. 1, Fig. 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Notre Implémentation : 4 Pages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36576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2377440" cy="8229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9FDD"/>
                </a:solidFill>
                <a:latin typeface="Calibri"/>
              </a:defRPr>
            </a:pPr>
            <a:r>
              <a:t>Curation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8E4"/>
                </a:solidFill>
                <a:latin typeface="Calibri"/>
              </a:defRPr>
            </a:pPr>
            <a:r>
              <a:t>Importer, valider et surveiller</a:t>
            </a:r>
            <a:br/>
            <a:r>
              <a:t>les données OHLCV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1737360" cy="41148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Opérationnel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2926080"/>
            <a:ext cx="22860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2651760" cy="36576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554480"/>
            <a:ext cx="2377440" cy="82296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7A"/>
                </a:solidFill>
                <a:latin typeface="Calibri"/>
              </a:defRPr>
            </a:pPr>
            <a:r>
              <a:t>Analyse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8E4"/>
                </a:solidFill>
                <a:latin typeface="Calibri"/>
              </a:defRPr>
            </a:pPr>
            <a:r>
              <a:t>Évaluer et filtrer les signaux</a:t>
            </a:r>
            <a:br/>
            <a:r>
              <a:t>techniques via OOS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4297680"/>
            <a:ext cx="1737360" cy="41148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Opérationnel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80760" y="2926080"/>
            <a:ext cx="22860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651760" cy="36576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1554480"/>
            <a:ext cx="2377440" cy="82296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A81E"/>
                </a:solidFill>
                <a:latin typeface="Calibri"/>
              </a:defRPr>
            </a:pPr>
            <a:r>
              <a:t>Construction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8E4"/>
                </a:solidFill>
                <a:latin typeface="Calibri"/>
              </a:defRPr>
            </a:pPr>
            <a:r>
              <a:t>Construire des règles de</a:t>
            </a:r>
            <a:br/>
            <a:r>
              <a:t>trading paramétrées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297680"/>
            <a:ext cx="1737360" cy="41148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 cours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61120" y="2926080"/>
            <a:ext cx="22860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98280" y="1371600"/>
            <a:ext cx="2651760" cy="36576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1554480"/>
            <a:ext cx="2377440" cy="82296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BACKTEST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72C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8E4"/>
                </a:solidFill>
                <a:latin typeface="Calibri"/>
              </a:defRPr>
            </a:pPr>
            <a:r>
              <a:t>Valider la stratégie complète</a:t>
            </a:r>
            <a:br/>
            <a:r>
              <a:t>en walk-forward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4297680"/>
            <a:ext cx="1737360" cy="41148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 cours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03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Chaque page produit un livrable validé. Un signal n'est jamais utilisé sans preuve.</a:t>
            </a:r>
            <a:br/>
            <a:r>
              <a:t>Une stratégie n'est jamais backtestée sans signaux validés en amont.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Pourquoi Séparer en 4 Étapes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9728" cy="96012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207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9FDD"/>
                </a:solidFill>
                <a:latin typeface="Calibri"/>
              </a:defRPr>
            </a:pPr>
            <a:r>
              <a:t>Éviter l'Overfitting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Si les signaux sont validés AVANT la stratégie, on ne peut pas ajuster</a:t>
            </a:r>
            <a:br/>
            <a:r>
              <a:t>les paramètres pour flatter le backtest. C'est le piège n°1 en finance quantitative.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9728" cy="96012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95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7A"/>
                </a:solidFill>
                <a:latin typeface="Calibri"/>
              </a:defRPr>
            </a:pPr>
            <a:r>
              <a:t>Réutilisabilité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Un signal validé (ex: SMA robuste sur ATW) peut alimenter plusieurs</a:t>
            </a:r>
            <a:br/>
            <a:r>
              <a:t>stratégies différentes sans être recalculé.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9728" cy="96012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84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A81E"/>
                </a:solidFill>
                <a:latin typeface="Calibri"/>
              </a:defRPr>
            </a:pPr>
            <a:r>
              <a:t>Traçabilité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Si un backtest échoue, on peut identifier précisément la cause :</a:t>
            </a:r>
            <a:br/>
            <a:r>
              <a:t>données manquantes ? Signal faible ? Mauvaise stratégie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9728" cy="96012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73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72CF"/>
                </a:solidFill>
                <a:latin typeface="Calibri"/>
              </a:defRPr>
            </a:pPr>
            <a:r>
              <a:t>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120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Data Engineer → Page Data  |  Quant → Page Signal</a:t>
            </a:r>
            <a:br/>
            <a:r>
              <a:t>Portfolio Manager → Strategy + Backtest. Chacun son périmètre.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Ref: de Prado, AFML Ch. 1, 11-12 — Backtesting pitfalls &amp; overfitting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Page Data — Les Données comme Fondation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Les données sont un actif de première classe — pas un fichier CSV qu'on charge et qu'on oublie.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560320" cy="100584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9FDD"/>
                </a:solidFill>
              </a:defRPr>
            </a:pPr>
            <a:r>
              <a:t>Import Intelligent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8E4"/>
                </a:solidFill>
                <a:latin typeface="Calibri"/>
              </a:defRPr>
            </a:pPr>
            <a:r>
              <a:t>3 formats Excel supportés (Bourse de Casablanca ancien/nouveau, Investing.com).</a:t>
            </a:r>
            <a:br/>
            <a:r>
              <a:t>Détection automatique du format. Parsing des dates ambiguës via programmation dynamique.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2560320" cy="100584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AE7A"/>
                </a:solidFill>
              </a:defRPr>
            </a:pPr>
            <a:r>
              <a:t>Qualité &amp; Observabilité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8803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8E4"/>
                </a:solidFill>
                <a:latin typeface="Calibri"/>
              </a:defRPr>
            </a:pPr>
            <a:r>
              <a:t>Calendrier jour par jour : chaque cellule montre si la donnée existe, manque,</a:t>
            </a:r>
            <a:br/>
            <a:r>
              <a:t>ou correspond à un jour férié marocain. Les gaps sont immédiatement visibles.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2560320" cy="100584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A81E"/>
                </a:solidFill>
              </a:defRPr>
            </a:pPr>
            <a:r>
              <a:t>Mise à Jour Automatique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233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8E4"/>
                </a:solidFill>
                <a:latin typeface="Calibri"/>
              </a:defRPr>
            </a:pPr>
            <a:r>
              <a:t>Refresh quotidien à 18h (après clôture de la Bourse de Casablanca).</a:t>
            </a:r>
            <a:br/>
            <a:r>
              <a:t>Merge delta : seules les valeurs qui diffèrent sont mises à jour. L'historique n'est jamais supprimé.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74920"/>
            <a:ext cx="2560320" cy="100584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B72CF"/>
                </a:solidFill>
              </a:defRPr>
            </a:pPr>
            <a:r>
              <a:t>Métadonnées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1663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8E4"/>
                </a:solidFill>
                <a:latin typeface="Calibri"/>
              </a:defRPr>
            </a:pPr>
            <a:r>
              <a:t>Chaque symbole a un nom, un ISIN, un secteur, un lien vers la fiche officielle.</a:t>
            </a:r>
            <a:br/>
            <a:r>
              <a:t>Auto-remplissage depuis le site de la Bourse de Casablanca.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de Prado, AFML Ch. 2-3 : « Data curation is the most underappreciated step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Page Signal — Évaluation Rigoureuse des Indicateurs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Chaque indicateur technique est évalué en walk-forward OOS avant d'être utilisé.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2011680" cy="91440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120</a:t>
            </a:r>
            <a:br/>
            <a:r>
              <a:t>Candidats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4 familles × 30</a:t>
            </a:r>
            <a:br/>
            <a:r>
              <a:t>variantes chacune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23160" y="2103120"/>
            <a:ext cx="22860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7480" y="1828800"/>
            <a:ext cx="2011680" cy="91440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~50</a:t>
            </a:r>
            <a:br/>
            <a:r>
              <a:t>Viables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834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Passent le test</a:t>
            </a:r>
            <a:br/>
            <a:r>
              <a:t>de viabilité OOS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54880" y="2103120"/>
            <a:ext cx="22860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828800"/>
            <a:ext cx="2011680" cy="91440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~30</a:t>
            </a:r>
            <a:br/>
            <a:r>
              <a:t>Compétitifs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834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Top performers</a:t>
            </a:r>
            <a:br/>
            <a:r>
              <a:t>par fiabilité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86600" y="2103120"/>
            <a:ext cx="22860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60920" y="1828800"/>
            <a:ext cx="2011680" cy="91440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~12</a:t>
            </a:r>
            <a:br/>
            <a:r>
              <a:t>Représentatifs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834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Diversifiés,</a:t>
            </a:r>
            <a:br/>
            <a:r>
              <a:t>non redondants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18320" y="2103120"/>
            <a:ext cx="22860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92640" y="1828800"/>
            <a:ext cx="2011680" cy="914400"/>
          </a:xfrm>
          <a:prstGeom prst="round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 Score</a:t>
            </a:r>
            <a:br/>
            <a:r>
              <a:t>[-100, +100]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834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Ensemble pondéré</a:t>
            </a:r>
            <a:br/>
            <a:r>
              <a:t>par fiabilité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31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8E4"/>
                </a:solidFill>
                <a:latin typeface="Calibri"/>
              </a:defRPr>
            </a:pPr>
            <a:r>
              <a:t>Familles d'indicateurs : SMA (tendance) • RSI (mean-reversion) • MACD (momentum) • OBV (volume)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Pipeline en 7 couches (A→G) avec walk-forward strict, scoring multi-critères,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filtrage par percentile et réduction de redondance par corrélation.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6B7B9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389FDD"/>
                </a:solidFill>
                <a:latin typeface="Calibri"/>
              </a:defRPr>
            </a:pPr>
            <a:r>
              <a:t>Détail complet dans la Présentation 2 — Moteur de Signaux.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Ref: Pardo (2008), Walk-Forward Analysis  |  de Prado, AFML Ch. 6-8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Prochaines Étapes : Strategy &amp; Backtest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212080" cy="41148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212080" cy="73152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PAGE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▸  Combiner les scores de plusieurs familles de signaux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▸  Définir des seuils d'entrée/sortie paramétrés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▸  Ajouter des contraintes de risque (drawdown max, position sizing)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▸  Optimiser les paramètres en walk-forward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▸  Chaque stratégie est construite à partir de signaux déjà validés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212080" cy="41148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212080" cy="73152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PAGE BACKTEST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▸  Walk-Forward Optimization complète sur la stratégie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▸  Métriques OOS : Sharpe, CAGR, Max Drawdown, Win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▸  Equity curve, drawdown chart, trade ledger détaillé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▸  Deflated Sharpe Ratio pour corriger le biais de sélection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▸  Leaderboard multi-horizon pour comparer les stratégies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Principe : chaque étape en aval consomme uniquement des livrables validés par l'étape en amont.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Stack Technique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743200" cy="91440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600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D8E4"/>
                </a:solidFill>
                <a:latin typeface="Calibri"/>
              </a:defRPr>
            </a:pPr>
            <a:r>
              <a:t>Next.js 14  •  React  •  TypeScript  •  Tailwind CSS  •  Plotly.js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2743200" cy="91440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697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D8E4"/>
                </a:solidFill>
                <a:latin typeface="Calibri"/>
              </a:defRPr>
            </a:pPr>
            <a:r>
              <a:t>FastAPI  •  Pydantic  •  REST  •  Cache en mémoire avec TTL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2743200" cy="91440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Core Quantitatif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794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D8E4"/>
                </a:solidFill>
                <a:latin typeface="Calibri"/>
              </a:defRPr>
            </a:pPr>
            <a:r>
              <a:t>Python  •  Signal Engine  •  Optimizer  •  Numba JIT (38× speedup)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2743200" cy="91440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892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D8E4"/>
                </a:solidFill>
                <a:latin typeface="Calibri"/>
              </a:defRPr>
            </a:pPr>
            <a:r>
              <a:t>PostgreSQL 16  •  Redis (queues)  •  MinIO (stockage S3)  • 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93"/>
                </a:solidFill>
                <a:latin typeface="Calibri"/>
              </a:defRPr>
            </a:pPr>
            <a:r>
              <a:t>Tout s'exécute localement via Docker Compose — aucune dépendance cloud externe.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Valeur Ajoutée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9728" cy="10515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207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9FDD"/>
                </a:solidFill>
                <a:latin typeface="Calibri"/>
              </a:defRPr>
            </a:pPr>
            <a:r>
              <a:t>Discipline Institutionnelle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La même rigueur que les fonds quantitatifs de référence (Two Sigma, AQR),</a:t>
            </a:r>
            <a:br/>
            <a:r>
              <a:t>appliquée au contexte du marché marocain.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9728" cy="105156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7A"/>
                </a:solidFill>
                <a:latin typeface="Calibri"/>
              </a:defRPr>
            </a:pPr>
            <a:r>
              <a:t>Adapté au Marché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88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Formats Bourse de Casablanca, jours fériés marocains, symboles locaux,</a:t>
            </a:r>
            <a:br/>
            <a:r>
              <a:t>refresh automatique des cours après clôture.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9728" cy="105156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A81E"/>
                </a:solidFill>
                <a:latin typeface="Calibri"/>
              </a:defRPr>
            </a:pPr>
            <a:r>
              <a:t>Transparence Totale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Chaque décision est traçable : pourquoi ce signal ? Pourquoi cette variante</a:t>
            </a:r>
            <a:br/>
            <a:r>
              <a:t>a été éliminée ? Quelle est sa performance OOS fenêtre par fenêtre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109728" cy="105156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910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72CF"/>
                </a:solidFill>
                <a:latin typeface="Calibri"/>
              </a:defRPr>
            </a:pPr>
            <a:r>
              <a:t>Évolutif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57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Ajouter une nouvelle famille d'indicateurs = 2 fonctions Python.</a:t>
            </a:r>
            <a:br/>
            <a:r>
              <a:t>Aucune modification du pipeline, de l'API ou du frontend nécessaire.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Références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FDD"/>
                </a:solidFill>
                <a:latin typeface="Calibri"/>
              </a:defRPr>
            </a:pPr>
            <a:r>
              <a:t>de Prado, M.L. (2018)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8E4"/>
                </a:solidFill>
                <a:latin typeface="Calibri"/>
              </a:defRPr>
            </a:pPr>
            <a:r>
              <a:t>Advances in Financial Machine Learning — Wiley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Pipeline modulaire, feature importance, overfitting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FDD"/>
                </a:solidFill>
                <a:latin typeface="Calibri"/>
              </a:defRPr>
            </a:pPr>
            <a:r>
              <a:t>Pardo, R. (2008)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8E4"/>
                </a:solidFill>
                <a:latin typeface="Calibri"/>
              </a:defRPr>
            </a:pPr>
            <a:r>
              <a:t>The Evaluation and Optimization of Trading Strategies — Wiley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40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Walk-Forward Analysis, validation OOS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FDD"/>
                </a:solidFill>
                <a:latin typeface="Calibri"/>
              </a:defRPr>
            </a:pPr>
            <a:r>
              <a:t>Bailey &amp; de Prado (2014)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8E4"/>
                </a:solidFill>
                <a:latin typeface="Calibri"/>
              </a:defRPr>
            </a:pPr>
            <a:r>
              <a:t>The Deflated Sharpe Ratio — Journal of Portfolio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Correction du biais de sélection multiple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FDD"/>
                </a:solidFill>
                <a:latin typeface="Calibri"/>
              </a:defRPr>
            </a:pPr>
            <a:r>
              <a:t>Grinold &amp; Kahn (2000)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8E4"/>
                </a:solidFill>
                <a:latin typeface="Calibri"/>
              </a:defRPr>
            </a:pPr>
            <a:r>
              <a:t>Active Portfolio Management — McGraw-Hill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977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Scoring multi-facteurs, information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FDD"/>
                </a:solidFill>
                <a:latin typeface="Calibri"/>
              </a:defRPr>
            </a:pPr>
            <a:r>
              <a:t>de Prado, M.L. (2020)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8E4"/>
                </a:solidFill>
                <a:latin typeface="Calibri"/>
              </a:defRPr>
            </a:pPr>
            <a:r>
              <a:t>Machine Learning for Asset Managers — Cambridge University Press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Feature importance, qualité de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2286000"/>
            <a:ext cx="8503920" cy="36576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89FDD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206240"/>
            <a:ext cx="8503920" cy="36576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93"/>
                </a:solidFill>
                <a:latin typeface="Calibri"/>
              </a:defRPr>
            </a:pPr>
            <a:r>
              <a:t>« The key to avoiding false discoveries is to structure your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6B7B93"/>
                </a:solidFill>
                <a:latin typeface="Calibri"/>
              </a:defRPr>
            </a:pPr>
            <a:r>
              <a:t>research process as a production chain. »</a:t>
            </a:r>
          </a:p>
          <a:p>
            <a:pPr algn="l">
              <a:spcBef>
                <a:spcPts val="800"/>
              </a:spcBef>
              <a:defRPr sz="1200" b="1">
                <a:solidFill>
                  <a:srgbClr val="389FDD"/>
                </a:solidFill>
                <a:latin typeface="Calibri"/>
              </a:defRPr>
            </a:pPr>
            <a:r>
              <a:t>— Marcos López de Prado, Advances in Financial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