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Weekly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Macro/Factor Analysis &amp; Backtest Robustness Layer</a:t>
            </a:r>
            <a:br/>
            <a:r>
              <a:t>Week ending April 24, 2026</a:t>
            </a:r>
          </a:p>
        </p:txBody>
      </p:sp>
      <p:pic>
        <p:nvPicPr>
          <p:cNvPr id="4" name="Picture 3" descr="backtest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114800" cy="2974237"/>
          </a:xfrm>
          <a:prstGeom prst="rect">
            <a:avLst/>
          </a:prstGeom>
        </p:spPr>
      </p:pic>
      <p:pic>
        <p:nvPicPr>
          <p:cNvPr id="5" name="Picture 4" descr="M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57200"/>
            <a:ext cx="4114800" cy="29372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✓ Integrated per-signal backtest + Monte Carlo robustness panel to signal pages</a:t>
            </a:r>
          </a:p>
          <a:p>
            <a:pPr>
              <a:defRPr sz="1600"/>
            </a:pPr>
            <a:r>
              <a:t>✓ Completed statistical macro/factor study: 56 factors × 3 symbols (ATW, IAM, BCP)</a:t>
            </a:r>
          </a:p>
          <a:p>
            <a:pPr>
              <a:defRPr sz="1600"/>
            </a:pPr>
            <a:r>
              <a:t>✓ Identified 15+ statistically significant factor relationships (p &lt; 0.05)</a:t>
            </a:r>
          </a:p>
          <a:p>
            <a:pPr>
              <a:defRPr sz="1600"/>
            </a:pPr>
            <a:r>
              <a:t>✓ Drafted app-level factor-layer analytics design with API/frontend contract</a:t>
            </a:r>
          </a:p>
          <a:p>
            <a:pPr>
              <a:defRPr sz="1600"/>
            </a:pPr>
            <a:r>
              <a:t>→ Ready for PR + validation on full signal universe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Factor Universe: 56 factors across equities, FX, commodities, rates, crypto</a:t>
            </a:r>
          </a:p>
          <a:p>
            <a:pPr>
              <a:defRPr sz="1600"/>
            </a:pPr>
            <a:r>
              <a:t>Time Periods: 2–6+ years per symbol (n_obs: 2K–6K+ observations)</a:t>
            </a:r>
          </a:p>
          <a:p>
            <a:pPr>
              <a:defRPr sz="1600"/>
            </a:pPr>
            <a:r>
              <a:t>Metrics: Spearman rank IC (robustness), HAC-adjusted t-stats (heteroscedasticity)</a:t>
            </a:r>
          </a:p>
          <a:p>
            <a:pPr>
              <a:defRPr sz="1600"/>
            </a:pPr>
            <a:r>
              <a:t>Significance Threshold: p &lt; 0.05 (two-tailed)</a:t>
            </a:r>
          </a:p>
          <a:p>
            <a:pPr>
              <a:defRPr sz="1600"/>
            </a:pPr>
            <a:r>
              <a:t>Correlation Range: −0.06 to +0.06 (typical magnitude), but with strong stat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ATW — Significant Factors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NIKKEI: ρ=+0.0581 (p=0.0000, t=+5.66)</a:t>
            </a:r>
          </a:p>
          <a:p>
            <a:pPr>
              <a:defRPr sz="1600"/>
            </a:pPr>
            <a:r>
              <a:t>EUROSTOXX: ρ=+0.0533 (p=0.0002, t=+3.93)</a:t>
            </a:r>
          </a:p>
          <a:p>
            <a:pPr>
              <a:defRPr sz="1600"/>
            </a:pPr>
            <a:r>
              <a:t>HANG_SENG: ρ=+0.0482 (p=0.0001, t=+4.70)</a:t>
            </a:r>
          </a:p>
          <a:p>
            <a:pPr>
              <a:defRPr sz="1600"/>
            </a:pPr>
            <a:r>
              <a:t>DAX: ρ=+0.0418 (p=0.0009, t=+3.49)</a:t>
            </a:r>
          </a:p>
          <a:p>
            <a:pPr>
              <a:defRPr sz="1600"/>
            </a:pPr>
            <a:r>
              <a:t>EUROPE_MINUS_VIX: ρ=+0.0406 (p=0.0052, t=+3.15)</a:t>
            </a:r>
          </a:p>
          <a:p>
            <a:pPr>
              <a:defRPr sz="1600"/>
            </a:pPr>
            <a:r>
              <a:t>Total significant: 19 / 56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Ranked by correlation magnitude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ATW — Top 10 Significant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Spearman ρ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HAC t-stat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NIKKEI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+0.0581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+5.66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0.0083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EUROSTOXX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+0.0533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+3.93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HANG_SENG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+4.70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0.0070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+0.0418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+3.49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EUROPE_MINUS_VIX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0.0047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FTSE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0.00150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WORLD_MINUS_VIX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0.02982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0.0078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XLF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+0.0351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0.00517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+1.81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0.0026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+0.0333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0.00802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— Significant Factors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NIKKEI: ρ=+0.0856 (p=0.0000, t=+6.06)</a:t>
            </a:r>
          </a:p>
          <a:p>
            <a:pPr>
              <a:defRPr sz="1600"/>
            </a:pPr>
            <a:r>
              <a:t>HANG_SENG: ρ=+0.0604 (p=0.0000, t=+4.91)</a:t>
            </a:r>
          </a:p>
          <a:p>
            <a:pPr>
              <a:defRPr sz="1600"/>
            </a:pPr>
            <a:r>
              <a:t>DAX: ρ=+0.0431 (p=0.0017, t=+4.51)</a:t>
            </a:r>
          </a:p>
          <a:p>
            <a:pPr>
              <a:defRPr sz="1600"/>
            </a:pPr>
            <a:r>
              <a:t>EUROSTOXX: ρ=+0.0411 (p=0.0047, t=+4.13)</a:t>
            </a:r>
          </a:p>
          <a:p>
            <a:pPr>
              <a:defRPr sz="1600"/>
            </a:pPr>
            <a:r>
              <a:t>WORLD: ρ=+0.0394 (p=0.0190, t=+2.00)</a:t>
            </a:r>
          </a:p>
          <a:p>
            <a:pPr>
              <a:defRPr sz="1600"/>
            </a:pPr>
            <a:r>
              <a:t>Total significant: 14 / 56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Ranked by correlation magnitude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— Top 10 Significant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Spearman ρ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HAC t-stat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NIKKEI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+0.0856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+6.06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0.0164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HANG_SENG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+0.0604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+4.91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+4.51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0.0099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EUROSTOXX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+0.0411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+4.13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WORLD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0.0027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0.00666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+4.48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0.0057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EUROPE_MINUS_VIX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+0.0335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0.02108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QQQ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0.0015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FTSE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+0.0321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0.01965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+4.29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BCP — Significant Factors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DAX: ρ=+0.1011 (p=0.0001, t=+3.85)</a:t>
            </a:r>
          </a:p>
          <a:p>
            <a:pPr>
              <a:defRPr sz="1600"/>
            </a:pPr>
            <a:r>
              <a:t>EUROSTOXX: ρ=+0.0980 (p=0.0001, t=+3.68)</a:t>
            </a:r>
          </a:p>
          <a:p>
            <a:pPr>
              <a:defRPr sz="1600"/>
            </a:pPr>
            <a:r>
              <a:t>CAC40: ρ=+0.0923 (p=0.0003, t=+3.50)</a:t>
            </a:r>
          </a:p>
          <a:p>
            <a:pPr>
              <a:defRPr sz="1600"/>
            </a:pPr>
            <a:r>
              <a:t>NIKKEI: ρ=+0.0848 (p=0.0008, t=+3.30)</a:t>
            </a:r>
          </a:p>
          <a:p>
            <a:pPr>
              <a:defRPr sz="1600"/>
            </a:pPr>
            <a:r>
              <a:t>XLF_VS_SPY: ρ=+0.0797 (p=0.0016, t=+2.73)</a:t>
            </a:r>
          </a:p>
          <a:p>
            <a:pPr>
              <a:defRPr sz="1600"/>
            </a:pPr>
            <a:r>
              <a:t>Total significant: 10 / 56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646464"/>
                </a:solidFill>
              </a:defRPr>
            </a:pPr>
            <a:r>
              <a:t>Ranked by correlation magnitude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BCP — Top 10 Significant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15636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Spearman ρ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HAC t-stat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>
                    <a:solidFill>
                      <a:srgbClr val="192D55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0.0451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EUROSTOXX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+0.0980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+3.68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0.0408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CAC40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0.0407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NIKKEI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+0.0848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+3.30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XLF_VS_SPY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0.0121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FTSE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+0.0667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0.00846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+2.57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0.0270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XLF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0.0229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HANG_SENG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+0.0592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0.01959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+2.27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0.0074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0.02683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0.0046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IWM_VS_SPY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+0.0540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0.03305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+1.81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Cross-Symbol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ATW: 19 significant factors / 56 (factor exposure density: 33.9%)</a:t>
            </a:r>
          </a:p>
          <a:p>
            <a:pPr>
              <a:defRPr sz="1600"/>
            </a:pPr>
            <a:r>
              <a:t>IAM: 14 significant factors / 56 (factor exposure density: 25.0%)</a:t>
            </a:r>
          </a:p>
          <a:p>
            <a:pPr>
              <a:defRPr sz="1600"/>
            </a:pPr>
            <a:r>
              <a:t>BCP: 10 significant factors / 56 (factor exposure density: 17.9%)</a:t>
            </a:r>
          </a:p>
          <a:p>
            <a:pPr>
              <a:defRPr sz="1600"/>
            </a:pPr>
            <a:r>
              <a:t>Total Significant Relationships Identified: 43</a:t>
            </a:r>
          </a:p>
          <a:p>
            <a:pPr>
              <a:defRPr sz="1600"/>
            </a:pPr>
            <a:r>
              <a:t>→ Strong evidence of systematic macro/factor sensitivities across the portfolio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Completed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Backtest Layer: Monte Carlo robustness (95% CI, DSR) integrated on all signal pages</a:t>
            </a:r>
          </a:p>
          <a:p>
            <a:pPr>
              <a:defRPr sz="1600"/>
            </a:pPr>
            <a:r>
              <a:t>Factor Study: Full statistical analysis completed; 56-factor universe evaluated</a:t>
            </a:r>
          </a:p>
          <a:p>
            <a:pPr>
              <a:defRPr sz="1600"/>
            </a:pPr>
            <a:r>
              <a:t>Data Alignment: Calendar-aware factor ingestion with precede_open lag rules</a:t>
            </a:r>
          </a:p>
          <a:p>
            <a:pPr>
              <a:defRPr sz="1600"/>
            </a:pPr>
            <a:r>
              <a:t>Design Docs: App-level factor-layer architecture drafted (API routes, data contracts)</a:t>
            </a:r>
          </a:p>
          <a:p>
            <a:pPr>
              <a:defRPr sz="1600"/>
            </a:pPr>
            <a:r>
              <a:t>Outputs: All results &amp; visualizations saved under iLoveZIP_Create/factor_lab_outputs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Extend analysis to full symbol universe (60+ instruments)</a:t>
            </a:r>
          </a:p>
          <a:p>
            <a:pPr>
              <a:defRPr sz="1600"/>
            </a:pPr>
            <a:r>
              <a:t>Run unit tests for statistical alignment + add adversarial calendar tests</a:t>
            </a:r>
          </a:p>
          <a:p>
            <a:pPr>
              <a:defRPr sz="1600"/>
            </a:pPr>
            <a:r>
              <a:t>Ingest live macro data feeds (VIX, DXY, commodities) and validate ingestion</a:t>
            </a:r>
          </a:p>
          <a:p>
            <a:pPr>
              <a:defRPr sz="1600"/>
            </a:pPr>
            <a:r>
              <a:t>Build factor-layer analytics endpoints (/analytics/signals, /analytics/factors/{symbol})</a:t>
            </a:r>
          </a:p>
          <a:p>
            <a:pPr>
              <a:defRPr sz="1600"/>
            </a:pPr>
            <a:r>
              <a:t>Prepare PR with full code + test coverage + docs for peer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Artifacts &amp;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Local Analysis: C:\Users\taha\Downloads\iLoveZIP_Create\factor_lab_outputs</a:t>
            </a:r>
          </a:p>
          <a:p>
            <a:pPr>
              <a:defRPr sz="1600"/>
            </a:pPr>
            <a:r>
              <a:t>Factor Summary JSON: docs/presentations/factor_summary.json</a:t>
            </a:r>
          </a:p>
          <a:p>
            <a:pPr>
              <a:defRPr sz="1600"/>
            </a:pPr>
            <a:r>
              <a:t>Backtest Images: backtestMC.png, MC.png (from Downloads)</a:t>
            </a:r>
          </a:p>
          <a:p>
            <a:pPr>
              <a:defRPr sz="1600"/>
            </a:pPr>
            <a:r>
              <a:t>App Design Docs: docs/factor-layer/</a:t>
            </a:r>
          </a:p>
          <a:p>
            <a:pPr>
              <a:defRPr sz="1600"/>
            </a:pPr>
            <a:r>
              <a:t>Generated PPTX: C:\Users\taha\Downloads\backtester_signal_engine_autoaccept\docs\presentations\weekly_report_v2.pptx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